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DM Sans Bold" charset="1" panose="00000000000000000000"/>
      <p:regular r:id="rId22"/>
    </p:embeddedFont>
    <p:embeddedFont>
      <p:font typeface="DM Sans" charset="1" panose="00000000000000000000"/>
      <p:regular r:id="rId23"/>
    </p:embeddedFont>
    <p:embeddedFont>
      <p:font typeface="Canva Sans Bold" charset="1" panose="020B0803030501040103"/>
      <p:regular r:id="rId24"/>
    </p:embeddedFont>
    <p:embeddedFont>
      <p:font typeface="DM Sans Italics" charset="1" panose="00000000000000000000"/>
      <p:regular r:id="rId25"/>
    </p:embeddedFont>
    <p:embeddedFont>
      <p:font typeface="Canva Sans" charset="1" panose="020B05030305010401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14" Target="../media/image31.pn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28" Target="../media/image32.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3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3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35.png" Type="http://schemas.openxmlformats.org/officeDocument/2006/relationships/image"/><Relationship Id="rId15" Target="../media/image36.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9.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28" Target="../media/image41.png" Type="http://schemas.openxmlformats.org/officeDocument/2006/relationships/image"/><Relationship Id="rId29" Target="../media/image42.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9.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https://www.biorxiv.org/content/10.1101/2022.07.20.500902v1" TargetMode="External" Type="http://schemas.openxmlformats.org/officeDocument/2006/relationships/hyperlink"/><Relationship Id="rId13" Target="https://www.microsoft.com/en-us/research/blog/phi-2-the-surprising-power-of-small-language-models/" TargetMode="External" Type="http://schemas.openxmlformats.org/officeDocument/2006/relationships/hyperlink"/><Relationship Id="rId14" Target="https://www.microsoft.com/en-us/research/blog/phi-2-the-surprising-power-of-small-language-models/" TargetMode="External" Type="http://schemas.openxmlformats.org/officeDocument/2006/relationships/hyperlink"/><Relationship Id="rId15" Target="https://arxiv.org/abs/2201.12086" TargetMode="External" Type="http://schemas.openxmlformats.org/officeDocument/2006/relationships/hyperlink"/><Relationship Id="rId16" Target="https://arxiv.org/abs/2201.12086" TargetMode="External" Type="http://schemas.openxmlformats.org/officeDocument/2006/relationships/hyperlink"/><Relationship Id="rId17" Target="https://arxiv.org/html/2502.06881v1" TargetMode="External" Type="http://schemas.openxmlformats.org/officeDocument/2006/relationships/hyperlink"/><Relationship Id="rId18" Target="https://arxiv.org/html/2502.06881v1" TargetMode="External" Type="http://schemas.openxmlformats.org/officeDocument/2006/relationships/hyperlink"/><Relationship Id="rId2" Target="../media/image45.png" Type="http://schemas.openxmlformats.org/officeDocument/2006/relationships/image"/><Relationship Id="rId3" Target="https://arxiv.org/html/2409.14993v1#bib" TargetMode="External" Type="http://schemas.openxmlformats.org/officeDocument/2006/relationships/hyperlink"/><Relationship Id="rId4" Target="../media/image7.png" Type="http://schemas.openxmlformats.org/officeDocument/2006/relationships/image"/><Relationship Id="rId5" Target="../media/image8.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28" Target="https://github.com/Sridipta-Roy/Protein-Function-Prediction" TargetMode="External" Type="http://schemas.openxmlformats.org/officeDocument/2006/relationships/hyperlink"/><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36705" y="6409875"/>
            <a:ext cx="724985" cy="920616"/>
          </a:xfrm>
          <a:custGeom>
            <a:avLst/>
            <a:gdLst/>
            <a:ahLst/>
            <a:cxnLst/>
            <a:rect r="r" b="b" t="t" l="l"/>
            <a:pathLst>
              <a:path h="920616" w="724985">
                <a:moveTo>
                  <a:pt x="0" y="0"/>
                </a:moveTo>
                <a:lnTo>
                  <a:pt x="724986" y="0"/>
                </a:lnTo>
                <a:lnTo>
                  <a:pt x="724986" y="920616"/>
                </a:lnTo>
                <a:lnTo>
                  <a:pt x="0" y="92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a:ln cap="sq">
            <a:noFill/>
            <a:prstDash val="solid"/>
            <a:miter/>
          </a:ln>
        </p:spPr>
      </p:sp>
      <p:sp>
        <p:nvSpPr>
          <p:cNvPr name="TextBox 16" id="16"/>
          <p:cNvSpPr txBox="true"/>
          <p:nvPr/>
        </p:nvSpPr>
        <p:spPr>
          <a:xfrm rot="0">
            <a:off x="2094010" y="2205512"/>
            <a:ext cx="14809518" cy="2227942"/>
          </a:xfrm>
          <a:prstGeom prst="rect">
            <a:avLst/>
          </a:prstGeom>
        </p:spPr>
        <p:txBody>
          <a:bodyPr anchor="t" rtlCol="false" tIns="0" lIns="0" bIns="0" rIns="0">
            <a:spAutoFit/>
          </a:bodyPr>
          <a:lstStyle/>
          <a:p>
            <a:pPr algn="l">
              <a:lnSpc>
                <a:spcPts val="8037"/>
              </a:lnSpc>
            </a:pPr>
            <a:r>
              <a:rPr lang="en-US" sz="8550" b="true">
                <a:solidFill>
                  <a:srgbClr val="000000"/>
                </a:solidFill>
                <a:latin typeface="DM Sans Bold"/>
                <a:ea typeface="DM Sans Bold"/>
                <a:cs typeface="DM Sans Bold"/>
                <a:sym typeface="DM Sans Bold"/>
              </a:rPr>
              <a:t>Protein Function Prediction </a:t>
            </a:r>
          </a:p>
          <a:p>
            <a:pPr algn="l">
              <a:lnSpc>
                <a:spcPts val="8846"/>
              </a:lnSpc>
            </a:pPr>
          </a:p>
        </p:txBody>
      </p:sp>
      <p:sp>
        <p:nvSpPr>
          <p:cNvPr name="TextBox 17" id="17"/>
          <p:cNvSpPr txBox="true"/>
          <p:nvPr/>
        </p:nvSpPr>
        <p:spPr>
          <a:xfrm rot="0">
            <a:off x="2094010" y="7633817"/>
            <a:ext cx="14491325" cy="578026"/>
          </a:xfrm>
          <a:prstGeom prst="rect">
            <a:avLst/>
          </a:prstGeom>
        </p:spPr>
        <p:txBody>
          <a:bodyPr anchor="t" rtlCol="false" tIns="0" lIns="0" bIns="0" rIns="0">
            <a:spAutoFit/>
          </a:bodyPr>
          <a:lstStyle/>
          <a:p>
            <a:pPr algn="ctr">
              <a:lnSpc>
                <a:spcPts val="4381"/>
              </a:lnSpc>
            </a:pPr>
            <a:r>
              <a:rPr lang="en-US" b="true" sz="4381" spc="-87">
                <a:solidFill>
                  <a:srgbClr val="000000"/>
                </a:solidFill>
                <a:latin typeface="DM Sans Bold"/>
                <a:ea typeface="DM Sans Bold"/>
                <a:cs typeface="DM Sans Bold"/>
                <a:sym typeface="DM Sans Bold"/>
              </a:rPr>
              <a:t>Bridging Sequence and Function with ESM-2 and Phi-2</a:t>
            </a:r>
          </a:p>
        </p:txBody>
      </p:sp>
      <p:sp>
        <p:nvSpPr>
          <p:cNvPr name="TextBox 18" id="18"/>
          <p:cNvSpPr txBox="true"/>
          <p:nvPr/>
        </p:nvSpPr>
        <p:spPr>
          <a:xfrm rot="0">
            <a:off x="1775818" y="3279964"/>
            <a:ext cx="14809518" cy="2910836"/>
          </a:xfrm>
          <a:prstGeom prst="rect">
            <a:avLst/>
          </a:prstGeom>
        </p:spPr>
        <p:txBody>
          <a:bodyPr anchor="t" rtlCol="false" tIns="0" lIns="0" bIns="0" rIns="0">
            <a:spAutoFit/>
          </a:bodyPr>
          <a:lstStyle/>
          <a:p>
            <a:pPr algn="ctr">
              <a:lnSpc>
                <a:spcPts val="11760"/>
              </a:lnSpc>
              <a:spcBef>
                <a:spcPct val="0"/>
              </a:spcBef>
            </a:pPr>
            <a:r>
              <a:rPr lang="en-US" b="true" sz="8400">
                <a:solidFill>
                  <a:srgbClr val="000000"/>
                </a:solidFill>
                <a:latin typeface="DM Sans Bold"/>
                <a:ea typeface="DM Sans Bold"/>
                <a:cs typeface="DM Sans Bold"/>
                <a:sym typeface="DM Sans Bold"/>
              </a:rPr>
              <a:t>via</a:t>
            </a:r>
            <a:r>
              <a:rPr lang="en-US" b="true" sz="8400">
                <a:solidFill>
                  <a:srgbClr val="000000"/>
                </a:solidFill>
                <a:latin typeface="DM Sans Bold"/>
                <a:ea typeface="DM Sans Bold"/>
                <a:cs typeface="DM Sans Bold"/>
                <a:sym typeface="DM Sans Bold"/>
              </a:rPr>
              <a:t> </a:t>
            </a:r>
          </a:p>
          <a:p>
            <a:pPr algn="ctr">
              <a:lnSpc>
                <a:spcPts val="11760"/>
              </a:lnSpc>
              <a:spcBef>
                <a:spcPct val="0"/>
              </a:spcBef>
            </a:pPr>
            <a:r>
              <a:rPr lang="en-US" b="true" sz="8400">
                <a:solidFill>
                  <a:srgbClr val="000000"/>
                </a:solidFill>
                <a:latin typeface="DM Sans Bold"/>
                <a:ea typeface="DM Sans Bold"/>
                <a:cs typeface="DM Sans Bold"/>
                <a:sym typeface="DM Sans Bold"/>
              </a:rPr>
              <a:t>Multimodal LLM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2248206" cy="2190979"/>
          </a:xfrm>
          <a:custGeom>
            <a:avLst/>
            <a:gdLst/>
            <a:ahLst/>
            <a:cxnLst/>
            <a:rect r="r" b="b" t="t" l="l"/>
            <a:pathLst>
              <a:path h="2190979" w="2248206">
                <a:moveTo>
                  <a:pt x="0" y="0"/>
                </a:moveTo>
                <a:lnTo>
                  <a:pt x="2248206" y="0"/>
                </a:lnTo>
                <a:lnTo>
                  <a:pt x="2248206" y="2190979"/>
                </a:lnTo>
                <a:lnTo>
                  <a:pt x="0" y="21909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014333" y="904650"/>
            <a:ext cx="7848753" cy="1043306"/>
          </a:xfrm>
          <a:prstGeom prst="rect">
            <a:avLst/>
          </a:prstGeom>
        </p:spPr>
        <p:txBody>
          <a:bodyPr anchor="t" rtlCol="false" tIns="0" lIns="0" bIns="0" rIns="0">
            <a:spAutoFit/>
          </a:bodyPr>
          <a:lstStyle/>
          <a:p>
            <a:pPr algn="l">
              <a:lnSpc>
                <a:spcPts val="7760"/>
              </a:lnSpc>
            </a:pPr>
            <a:r>
              <a:rPr lang="en-US" sz="8000" b="true">
                <a:solidFill>
                  <a:srgbClr val="000000"/>
                </a:solidFill>
                <a:latin typeface="DM Sans Bold"/>
                <a:ea typeface="DM Sans Bold"/>
                <a:cs typeface="DM Sans Bold"/>
                <a:sym typeface="DM Sans Bold"/>
              </a:rPr>
              <a:t>Origin of idea</a:t>
            </a:r>
          </a:p>
        </p:txBody>
      </p:sp>
      <p:sp>
        <p:nvSpPr>
          <p:cNvPr name="Freeform 4" id="4"/>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11182135" y="-877613"/>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5003948" y="-1890601"/>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10668236" y="315404"/>
            <a:ext cx="6986410" cy="8601617"/>
          </a:xfrm>
          <a:custGeom>
            <a:avLst/>
            <a:gdLst/>
            <a:ahLst/>
            <a:cxnLst/>
            <a:rect r="r" b="b" t="t" l="l"/>
            <a:pathLst>
              <a:path h="8601617" w="6986410">
                <a:moveTo>
                  <a:pt x="0" y="0"/>
                </a:moveTo>
                <a:lnTo>
                  <a:pt x="6986410" y="0"/>
                </a:lnTo>
                <a:lnTo>
                  <a:pt x="6986410" y="8601617"/>
                </a:lnTo>
                <a:lnTo>
                  <a:pt x="0" y="8601617"/>
                </a:lnTo>
                <a:lnTo>
                  <a:pt x="0" y="0"/>
                </a:lnTo>
                <a:close/>
              </a:path>
            </a:pathLst>
          </a:custGeom>
          <a:blipFill>
            <a:blip r:embed="rId14"/>
            <a:stretch>
              <a:fillRect l="0" t="0" r="0" b="0"/>
            </a:stretch>
          </a:blipFill>
        </p:spPr>
      </p:sp>
      <p:sp>
        <p:nvSpPr>
          <p:cNvPr name="TextBox 10" id="10"/>
          <p:cNvSpPr txBox="true"/>
          <p:nvPr/>
        </p:nvSpPr>
        <p:spPr>
          <a:xfrm rot="0">
            <a:off x="556460" y="4107590"/>
            <a:ext cx="9726714" cy="6081194"/>
          </a:xfrm>
          <a:prstGeom prst="rect">
            <a:avLst/>
          </a:prstGeom>
        </p:spPr>
        <p:txBody>
          <a:bodyPr anchor="t" rtlCol="false" tIns="0" lIns="0" bIns="0" rIns="0">
            <a:spAutoFit/>
          </a:bodyPr>
          <a:lstStyle/>
          <a:p>
            <a:pPr algn="l" marL="491656" indent="-245828" lvl="1">
              <a:lnSpc>
                <a:spcPts val="3074"/>
              </a:lnSpc>
              <a:buFont typeface="Arial"/>
              <a:buChar char="•"/>
            </a:pPr>
            <a:r>
              <a:rPr lang="en-US" b="true" sz="2277" spc="136">
                <a:solidFill>
                  <a:srgbClr val="000000"/>
                </a:solidFill>
                <a:latin typeface="DM Sans Bold"/>
                <a:ea typeface="DM Sans Bold"/>
                <a:cs typeface="DM Sans Bold"/>
                <a:sym typeface="DM Sans Bold"/>
              </a:rPr>
              <a:t>Inspirati</a:t>
            </a:r>
            <a:r>
              <a:rPr lang="en-US" b="true" sz="2277" spc="136" u="none">
                <a:solidFill>
                  <a:srgbClr val="000000"/>
                </a:solidFill>
                <a:latin typeface="DM Sans Bold"/>
                <a:ea typeface="DM Sans Bold"/>
                <a:cs typeface="DM Sans Bold"/>
                <a:sym typeface="DM Sans Bold"/>
              </a:rPr>
              <a:t>on from BLIP (Bootstrapping Language-Image Pre-training):</a:t>
            </a:r>
          </a:p>
          <a:p>
            <a:pPr algn="l" marL="1474968" indent="-368742" lvl="3">
              <a:lnSpc>
                <a:spcPts val="3074"/>
              </a:lnSpc>
              <a:buFont typeface="Arial"/>
              <a:buChar char="￭"/>
            </a:pPr>
            <a:r>
              <a:rPr lang="en-US" sz="2277" spc="136" u="none">
                <a:solidFill>
                  <a:srgbClr val="000000"/>
                </a:solidFill>
                <a:latin typeface="DM Sans"/>
                <a:ea typeface="DM Sans"/>
                <a:cs typeface="DM Sans"/>
                <a:sym typeface="DM Sans"/>
              </a:rPr>
              <a:t>Image Encoder + Text Encoder → Multimodal Encoder</a:t>
            </a:r>
          </a:p>
          <a:p>
            <a:pPr algn="l" marL="1474968" indent="-368742" lvl="3">
              <a:lnSpc>
                <a:spcPts val="3074"/>
              </a:lnSpc>
              <a:buFont typeface="Arial"/>
              <a:buChar char="￭"/>
            </a:pPr>
            <a:r>
              <a:rPr lang="en-US" sz="2277" spc="136" u="none">
                <a:solidFill>
                  <a:srgbClr val="000000"/>
                </a:solidFill>
                <a:latin typeface="DM Sans"/>
                <a:ea typeface="DM Sans"/>
                <a:cs typeface="DM Sans"/>
                <a:sym typeface="DM Sans"/>
              </a:rPr>
              <a:t>Contrastive learning for image-text alignment</a:t>
            </a:r>
          </a:p>
          <a:p>
            <a:pPr algn="l" marL="1474968" indent="-368742" lvl="3">
              <a:lnSpc>
                <a:spcPts val="3074"/>
              </a:lnSpc>
              <a:buFont typeface="Arial"/>
              <a:buChar char="￭"/>
            </a:pPr>
            <a:r>
              <a:rPr lang="en-US" sz="2277" spc="136" u="none">
                <a:solidFill>
                  <a:srgbClr val="000000"/>
                </a:solidFill>
                <a:latin typeface="DM Sans"/>
                <a:ea typeface="DM Sans"/>
                <a:cs typeface="DM Sans"/>
                <a:sym typeface="DM Sans"/>
              </a:rPr>
              <a:t>Decoder for image-to-text generation (captioning)</a:t>
            </a:r>
          </a:p>
          <a:p>
            <a:pPr algn="l" marL="0" indent="0" lvl="0">
              <a:lnSpc>
                <a:spcPts val="3074"/>
              </a:lnSpc>
              <a:spcBef>
                <a:spcPct val="0"/>
              </a:spcBef>
            </a:pPr>
          </a:p>
          <a:p>
            <a:pPr algn="l" marL="491656" indent="-245828" lvl="1">
              <a:lnSpc>
                <a:spcPts val="3074"/>
              </a:lnSpc>
              <a:buFont typeface="Arial"/>
              <a:buChar char="•"/>
            </a:pPr>
            <a:r>
              <a:rPr lang="en-US" b="true" sz="2277" spc="136" u="none">
                <a:solidFill>
                  <a:srgbClr val="000000"/>
                </a:solidFill>
                <a:latin typeface="DM Sans Bold"/>
                <a:ea typeface="DM Sans Bold"/>
                <a:cs typeface="DM Sans Bold"/>
                <a:sym typeface="DM Sans Bold"/>
              </a:rPr>
              <a:t>For Protein-Specific Adaptation:</a:t>
            </a:r>
          </a:p>
          <a:p>
            <a:pPr algn="l" marL="1474968" indent="-368742" lvl="3">
              <a:lnSpc>
                <a:spcPts val="3074"/>
              </a:lnSpc>
              <a:buFont typeface="Arial"/>
              <a:buChar char="￭"/>
            </a:pPr>
            <a:r>
              <a:rPr lang="en-US" sz="2277" spc="136" u="none">
                <a:solidFill>
                  <a:srgbClr val="000000"/>
                </a:solidFill>
                <a:latin typeface="DM Sans"/>
                <a:ea typeface="DM Sans"/>
                <a:cs typeface="DM Sans"/>
                <a:sym typeface="DM Sans"/>
              </a:rPr>
              <a:t>Replace Image Encoder → ESM-2 Protein Encoder</a:t>
            </a:r>
          </a:p>
          <a:p>
            <a:pPr algn="l" marL="1474968" indent="-368742" lvl="3">
              <a:lnSpc>
                <a:spcPts val="3074"/>
              </a:lnSpc>
              <a:buFont typeface="Arial"/>
              <a:buChar char="￭"/>
            </a:pPr>
            <a:r>
              <a:rPr lang="en-US" sz="2277" spc="136" u="none">
                <a:solidFill>
                  <a:srgbClr val="000000"/>
                </a:solidFill>
                <a:latin typeface="DM Sans"/>
                <a:ea typeface="DM Sans"/>
                <a:cs typeface="DM Sans"/>
                <a:sym typeface="DM Sans"/>
              </a:rPr>
              <a:t>Replace Text Encoder → Phi-2 Language Model</a:t>
            </a:r>
          </a:p>
          <a:p>
            <a:pPr algn="l" marL="1474968" indent="-368742" lvl="3">
              <a:lnSpc>
                <a:spcPts val="3074"/>
              </a:lnSpc>
              <a:buFont typeface="Arial"/>
              <a:buChar char="￭"/>
            </a:pPr>
            <a:r>
              <a:rPr lang="en-US" sz="2277" spc="136" u="none">
                <a:solidFill>
                  <a:srgbClr val="000000"/>
                </a:solidFill>
                <a:latin typeface="DM Sans"/>
                <a:ea typeface="DM Sans"/>
                <a:cs typeface="DM Sans"/>
                <a:sym typeface="DM Sans"/>
              </a:rPr>
              <a:t>Projection network as alignment module (like Q-Former)</a:t>
            </a:r>
          </a:p>
          <a:p>
            <a:pPr algn="l" marL="1474968" indent="-368742" lvl="3">
              <a:lnSpc>
                <a:spcPts val="3074"/>
              </a:lnSpc>
              <a:buFont typeface="Arial"/>
              <a:buChar char="￭"/>
            </a:pPr>
            <a:r>
              <a:rPr lang="en-US" sz="2277" spc="136" u="none">
                <a:solidFill>
                  <a:srgbClr val="000000"/>
                </a:solidFill>
                <a:latin typeface="DM Sans"/>
                <a:ea typeface="DM Sans"/>
                <a:cs typeface="DM Sans"/>
                <a:sym typeface="DM Sans"/>
              </a:rPr>
              <a:t>Multi-task objective: LM loss + Alignment + Contrastive</a:t>
            </a:r>
          </a:p>
          <a:p>
            <a:pPr algn="l" marL="0" indent="0" lvl="0">
              <a:lnSpc>
                <a:spcPts val="3074"/>
              </a:lnSpc>
              <a:spcBef>
                <a:spcPct val="0"/>
              </a:spcBef>
            </a:pPr>
          </a:p>
          <a:p>
            <a:pPr algn="l" marL="0" indent="0" lvl="0">
              <a:lnSpc>
                <a:spcPts val="3074"/>
              </a:lnSpc>
              <a:spcBef>
                <a:spcPct val="0"/>
              </a:spcBef>
            </a:pPr>
          </a:p>
          <a:p>
            <a:pPr algn="l" marL="0" indent="0" lvl="0">
              <a:lnSpc>
                <a:spcPts val="3074"/>
              </a:lnSpc>
              <a:spcBef>
                <a:spcPct val="0"/>
              </a:spcBef>
            </a:pPr>
          </a:p>
        </p:txBody>
      </p:sp>
      <p:sp>
        <p:nvSpPr>
          <p:cNvPr name="TextBox 11" id="11"/>
          <p:cNvSpPr txBox="true"/>
          <p:nvPr/>
        </p:nvSpPr>
        <p:spPr>
          <a:xfrm rot="0">
            <a:off x="1507167" y="2133829"/>
            <a:ext cx="8776007" cy="1047750"/>
          </a:xfrm>
          <a:prstGeom prst="rect">
            <a:avLst/>
          </a:prstGeom>
        </p:spPr>
        <p:txBody>
          <a:bodyPr anchor="t" rtlCol="false" tIns="0" lIns="0" bIns="0" rIns="0">
            <a:spAutoFit/>
          </a:bodyPr>
          <a:lstStyle/>
          <a:p>
            <a:pPr algn="ctr">
              <a:lnSpc>
                <a:spcPts val="4200"/>
              </a:lnSpc>
            </a:pPr>
            <a:r>
              <a:rPr lang="en-US" sz="3000" b="true">
                <a:solidFill>
                  <a:srgbClr val="000000"/>
                </a:solidFill>
                <a:latin typeface="Canva Sans Bold"/>
                <a:ea typeface="Canva Sans Bold"/>
                <a:cs typeface="Canva Sans Bold"/>
                <a:sym typeface="Canva Sans Bold"/>
              </a:rPr>
              <a:t>Inspire</a:t>
            </a:r>
            <a:r>
              <a:rPr lang="en-US" b="true" sz="3000">
                <a:solidFill>
                  <a:srgbClr val="000000"/>
                </a:solidFill>
                <a:latin typeface="Canva Sans Bold"/>
                <a:ea typeface="Canva Sans Bold"/>
                <a:cs typeface="Canva Sans Bold"/>
                <a:sym typeface="Canva Sans Bold"/>
              </a:rPr>
              <a:t>d by Vision-Language Pretraining &amp; BLIP Architecture</a:t>
            </a:r>
          </a:p>
        </p:txBody>
      </p:sp>
      <p:sp>
        <p:nvSpPr>
          <p:cNvPr name="TextBox 12" id="12"/>
          <p:cNvSpPr txBox="true"/>
          <p:nvPr/>
        </p:nvSpPr>
        <p:spPr>
          <a:xfrm rot="0">
            <a:off x="10863087" y="8986838"/>
            <a:ext cx="6986410" cy="514350"/>
          </a:xfrm>
          <a:prstGeom prst="rect">
            <a:avLst/>
          </a:prstGeom>
        </p:spPr>
        <p:txBody>
          <a:bodyPr anchor="t" rtlCol="false" tIns="0" lIns="0" bIns="0" rIns="0">
            <a:spAutoFit/>
          </a:bodyPr>
          <a:lstStyle/>
          <a:p>
            <a:pPr algn="ctr">
              <a:lnSpc>
                <a:spcPts val="2025"/>
              </a:lnSpc>
            </a:pPr>
            <a:r>
              <a:rPr lang="en-US" sz="1500" i="true" spc="89">
                <a:solidFill>
                  <a:srgbClr val="000000"/>
                </a:solidFill>
                <a:latin typeface="DM Sans Italics"/>
                <a:ea typeface="DM Sans Italics"/>
                <a:cs typeface="DM Sans Italics"/>
                <a:sym typeface="DM Sans Italics"/>
              </a:rPr>
              <a:t>Chen, Hong, et al. "Multi-Modal Generative AI: Multi-modal LLM, Diffusion and Beyond." arXiv preprint arXiv:2409.14993 (2024)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1504950" y="3118971"/>
            <a:ext cx="7025086" cy="22821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Project Overview</a:t>
            </a:r>
          </a:p>
        </p:txBody>
      </p:sp>
      <p:grpSp>
        <p:nvGrpSpPr>
          <p:cNvPr name="Group 3" id="3"/>
          <p:cNvGrpSpPr/>
          <p:nvPr/>
        </p:nvGrpSpPr>
        <p:grpSpPr>
          <a:xfrm rot="0">
            <a:off x="8756634" y="1170261"/>
            <a:ext cx="8216916" cy="2994555"/>
            <a:chOff x="0" y="0"/>
            <a:chExt cx="2750680" cy="1002452"/>
          </a:xfrm>
        </p:grpSpPr>
        <p:sp>
          <p:nvSpPr>
            <p:cNvPr name="Freeform 4" id="4"/>
            <p:cNvSpPr/>
            <p:nvPr/>
          </p:nvSpPr>
          <p:spPr>
            <a:xfrm flipH="false" flipV="false" rot="0">
              <a:off x="0" y="0"/>
              <a:ext cx="2750680" cy="1002452"/>
            </a:xfrm>
            <a:custGeom>
              <a:avLst/>
              <a:gdLst/>
              <a:ahLst/>
              <a:cxnLst/>
              <a:rect r="r" b="b" t="t" l="l"/>
              <a:pathLst>
                <a:path h="1002452" w="2750680">
                  <a:moveTo>
                    <a:pt x="14133" y="0"/>
                  </a:moveTo>
                  <a:lnTo>
                    <a:pt x="2736547" y="0"/>
                  </a:lnTo>
                  <a:cubicBezTo>
                    <a:pt x="2744353" y="0"/>
                    <a:pt x="2750680" y="6328"/>
                    <a:pt x="2750680" y="14133"/>
                  </a:cubicBezTo>
                  <a:lnTo>
                    <a:pt x="2750680" y="988319"/>
                  </a:lnTo>
                  <a:cubicBezTo>
                    <a:pt x="2750680" y="996124"/>
                    <a:pt x="2744353" y="1002452"/>
                    <a:pt x="2736547" y="1002452"/>
                  </a:cubicBezTo>
                  <a:lnTo>
                    <a:pt x="14133" y="1002452"/>
                  </a:lnTo>
                  <a:cubicBezTo>
                    <a:pt x="6328" y="1002452"/>
                    <a:pt x="0" y="996124"/>
                    <a:pt x="0" y="988319"/>
                  </a:cubicBezTo>
                  <a:lnTo>
                    <a:pt x="0" y="14133"/>
                  </a:lnTo>
                  <a:cubicBezTo>
                    <a:pt x="0" y="6328"/>
                    <a:pt x="6328" y="0"/>
                    <a:pt x="14133" y="0"/>
                  </a:cubicBezTo>
                  <a:close/>
                </a:path>
              </a:pathLst>
            </a:custGeom>
            <a:solidFill>
              <a:srgbClr val="8AB7E2"/>
            </a:solidFill>
          </p:spPr>
        </p:sp>
        <p:sp>
          <p:nvSpPr>
            <p:cNvPr name="TextBox 5" id="5"/>
            <p:cNvSpPr txBox="true"/>
            <p:nvPr/>
          </p:nvSpPr>
          <p:spPr>
            <a:xfrm>
              <a:off x="0" y="85725"/>
              <a:ext cx="2750680" cy="916727"/>
            </a:xfrm>
            <a:prstGeom prst="rect">
              <a:avLst/>
            </a:prstGeom>
          </p:spPr>
          <p:txBody>
            <a:bodyPr anchor="ctr" rtlCol="false" tIns="50800" lIns="50800" bIns="50800" rIns="50800"/>
            <a:lstStyle/>
            <a:p>
              <a:pPr algn="ctr">
                <a:lnSpc>
                  <a:spcPts val="1925"/>
                </a:lnSpc>
              </a:pPr>
            </a:p>
          </p:txBody>
        </p:sp>
      </p:grpSp>
      <p:sp>
        <p:nvSpPr>
          <p:cNvPr name="TextBox 6" id="6"/>
          <p:cNvSpPr txBox="true"/>
          <p:nvPr/>
        </p:nvSpPr>
        <p:spPr>
          <a:xfrm rot="0">
            <a:off x="9186013" y="2048107"/>
            <a:ext cx="1578952" cy="657238"/>
          </a:xfrm>
          <a:prstGeom prst="rect">
            <a:avLst/>
          </a:prstGeom>
        </p:spPr>
        <p:txBody>
          <a:bodyPr anchor="t" rtlCol="false" tIns="0" lIns="0" bIns="0" rIns="0">
            <a:spAutoFit/>
          </a:bodyPr>
          <a:lstStyle/>
          <a:p>
            <a:pPr algn="l">
              <a:lnSpc>
                <a:spcPts val="4800"/>
              </a:lnSpc>
            </a:pPr>
            <a:r>
              <a:rPr lang="en-US" sz="5000" spc="-410">
                <a:solidFill>
                  <a:srgbClr val="000000"/>
                </a:solidFill>
                <a:latin typeface="DM Sans"/>
                <a:ea typeface="DM Sans"/>
                <a:cs typeface="DM Sans"/>
                <a:sym typeface="DM Sans"/>
              </a:rPr>
              <a:t>Goal</a:t>
            </a:r>
          </a:p>
        </p:txBody>
      </p:sp>
      <p:grpSp>
        <p:nvGrpSpPr>
          <p:cNvPr name="Group 7" id="7"/>
          <p:cNvGrpSpPr/>
          <p:nvPr/>
        </p:nvGrpSpPr>
        <p:grpSpPr>
          <a:xfrm rot="0">
            <a:off x="8756634" y="4441134"/>
            <a:ext cx="8216916" cy="2561528"/>
            <a:chOff x="0" y="0"/>
            <a:chExt cx="2750680" cy="857492"/>
          </a:xfrm>
        </p:grpSpPr>
        <p:sp>
          <p:nvSpPr>
            <p:cNvPr name="Freeform 8" id="8"/>
            <p:cNvSpPr/>
            <p:nvPr/>
          </p:nvSpPr>
          <p:spPr>
            <a:xfrm flipH="false" flipV="false" rot="0">
              <a:off x="0" y="0"/>
              <a:ext cx="2750680" cy="857492"/>
            </a:xfrm>
            <a:custGeom>
              <a:avLst/>
              <a:gdLst/>
              <a:ahLst/>
              <a:cxnLst/>
              <a:rect r="r" b="b" t="t" l="l"/>
              <a:pathLst>
                <a:path h="857492" w="2750680">
                  <a:moveTo>
                    <a:pt x="14133" y="0"/>
                  </a:moveTo>
                  <a:lnTo>
                    <a:pt x="2736547" y="0"/>
                  </a:lnTo>
                  <a:cubicBezTo>
                    <a:pt x="2744353" y="0"/>
                    <a:pt x="2750680" y="6328"/>
                    <a:pt x="2750680" y="14133"/>
                  </a:cubicBezTo>
                  <a:lnTo>
                    <a:pt x="2750680" y="843360"/>
                  </a:lnTo>
                  <a:cubicBezTo>
                    <a:pt x="2750680" y="851165"/>
                    <a:pt x="2744353" y="857492"/>
                    <a:pt x="2736547" y="857492"/>
                  </a:cubicBezTo>
                  <a:lnTo>
                    <a:pt x="14133" y="857492"/>
                  </a:lnTo>
                  <a:cubicBezTo>
                    <a:pt x="6328" y="857492"/>
                    <a:pt x="0" y="851165"/>
                    <a:pt x="0" y="843360"/>
                  </a:cubicBezTo>
                  <a:lnTo>
                    <a:pt x="0" y="14133"/>
                  </a:lnTo>
                  <a:cubicBezTo>
                    <a:pt x="0" y="6328"/>
                    <a:pt x="6328" y="0"/>
                    <a:pt x="14133" y="0"/>
                  </a:cubicBezTo>
                  <a:close/>
                </a:path>
              </a:pathLst>
            </a:custGeom>
            <a:solidFill>
              <a:srgbClr val="8AB7E2"/>
            </a:solidFill>
          </p:spPr>
        </p:sp>
        <p:sp>
          <p:nvSpPr>
            <p:cNvPr name="TextBox 9" id="9"/>
            <p:cNvSpPr txBox="true"/>
            <p:nvPr/>
          </p:nvSpPr>
          <p:spPr>
            <a:xfrm>
              <a:off x="0" y="85725"/>
              <a:ext cx="2750680" cy="771767"/>
            </a:xfrm>
            <a:prstGeom prst="rect">
              <a:avLst/>
            </a:prstGeom>
          </p:spPr>
          <p:txBody>
            <a:bodyPr anchor="ctr" rtlCol="false" tIns="50800" lIns="50800" bIns="50800" rIns="50800"/>
            <a:lstStyle/>
            <a:p>
              <a:pPr algn="ctr">
                <a:lnSpc>
                  <a:spcPts val="1925"/>
                </a:lnSpc>
              </a:pPr>
            </a:p>
          </p:txBody>
        </p:sp>
      </p:grpSp>
      <p:grpSp>
        <p:nvGrpSpPr>
          <p:cNvPr name="Group 10" id="10"/>
          <p:cNvGrpSpPr/>
          <p:nvPr/>
        </p:nvGrpSpPr>
        <p:grpSpPr>
          <a:xfrm rot="0">
            <a:off x="8756634" y="7443051"/>
            <a:ext cx="8216916" cy="2561528"/>
            <a:chOff x="0" y="0"/>
            <a:chExt cx="2750680" cy="857492"/>
          </a:xfrm>
        </p:grpSpPr>
        <p:sp>
          <p:nvSpPr>
            <p:cNvPr name="Freeform 11" id="11"/>
            <p:cNvSpPr/>
            <p:nvPr/>
          </p:nvSpPr>
          <p:spPr>
            <a:xfrm flipH="false" flipV="false" rot="0">
              <a:off x="0" y="0"/>
              <a:ext cx="2750680" cy="857492"/>
            </a:xfrm>
            <a:custGeom>
              <a:avLst/>
              <a:gdLst/>
              <a:ahLst/>
              <a:cxnLst/>
              <a:rect r="r" b="b" t="t" l="l"/>
              <a:pathLst>
                <a:path h="857492" w="2750680">
                  <a:moveTo>
                    <a:pt x="14133" y="0"/>
                  </a:moveTo>
                  <a:lnTo>
                    <a:pt x="2736547" y="0"/>
                  </a:lnTo>
                  <a:cubicBezTo>
                    <a:pt x="2744353" y="0"/>
                    <a:pt x="2750680" y="6328"/>
                    <a:pt x="2750680" y="14133"/>
                  </a:cubicBezTo>
                  <a:lnTo>
                    <a:pt x="2750680" y="843360"/>
                  </a:lnTo>
                  <a:cubicBezTo>
                    <a:pt x="2750680" y="851165"/>
                    <a:pt x="2744353" y="857492"/>
                    <a:pt x="2736547" y="857492"/>
                  </a:cubicBezTo>
                  <a:lnTo>
                    <a:pt x="14133" y="857492"/>
                  </a:lnTo>
                  <a:cubicBezTo>
                    <a:pt x="6328" y="857492"/>
                    <a:pt x="0" y="851165"/>
                    <a:pt x="0" y="843360"/>
                  </a:cubicBezTo>
                  <a:lnTo>
                    <a:pt x="0" y="14133"/>
                  </a:lnTo>
                  <a:cubicBezTo>
                    <a:pt x="0" y="6328"/>
                    <a:pt x="6328" y="0"/>
                    <a:pt x="14133" y="0"/>
                  </a:cubicBezTo>
                  <a:close/>
                </a:path>
              </a:pathLst>
            </a:custGeom>
            <a:solidFill>
              <a:srgbClr val="8AB7E2"/>
            </a:solidFill>
          </p:spPr>
        </p:sp>
        <p:sp>
          <p:nvSpPr>
            <p:cNvPr name="TextBox 12" id="12"/>
            <p:cNvSpPr txBox="true"/>
            <p:nvPr/>
          </p:nvSpPr>
          <p:spPr>
            <a:xfrm>
              <a:off x="0" y="85725"/>
              <a:ext cx="2750680" cy="771767"/>
            </a:xfrm>
            <a:prstGeom prst="rect">
              <a:avLst/>
            </a:prstGeom>
          </p:spPr>
          <p:txBody>
            <a:bodyPr anchor="ctr" rtlCol="false" tIns="50800" lIns="50800" bIns="50800" rIns="50800"/>
            <a:lstStyle/>
            <a:p>
              <a:pPr algn="ctr">
                <a:lnSpc>
                  <a:spcPts val="1925"/>
                </a:lnSpc>
              </a:pPr>
            </a:p>
          </p:txBody>
        </p:sp>
      </p:grpSp>
      <p:sp>
        <p:nvSpPr>
          <p:cNvPr name="TextBox 13" id="13"/>
          <p:cNvSpPr txBox="true"/>
          <p:nvPr/>
        </p:nvSpPr>
        <p:spPr>
          <a:xfrm rot="0">
            <a:off x="9186013" y="5448545"/>
            <a:ext cx="2554036" cy="657225"/>
          </a:xfrm>
          <a:prstGeom prst="rect">
            <a:avLst/>
          </a:prstGeom>
        </p:spPr>
        <p:txBody>
          <a:bodyPr anchor="t" rtlCol="false" tIns="0" lIns="0" bIns="0" rIns="0">
            <a:spAutoFit/>
          </a:bodyPr>
          <a:lstStyle/>
          <a:p>
            <a:pPr algn="l">
              <a:lnSpc>
                <a:spcPts val="4800"/>
              </a:lnSpc>
            </a:pPr>
            <a:r>
              <a:rPr lang="en-US" sz="5000" spc="-410">
                <a:solidFill>
                  <a:srgbClr val="000000"/>
                </a:solidFill>
                <a:latin typeface="DM Sans"/>
                <a:ea typeface="DM Sans"/>
                <a:cs typeface="DM Sans"/>
                <a:sym typeface="DM Sans"/>
              </a:rPr>
              <a:t>Approach</a:t>
            </a:r>
          </a:p>
        </p:txBody>
      </p:sp>
      <p:sp>
        <p:nvSpPr>
          <p:cNvPr name="TextBox 14" id="14"/>
          <p:cNvSpPr txBox="true"/>
          <p:nvPr/>
        </p:nvSpPr>
        <p:spPr>
          <a:xfrm rot="0">
            <a:off x="9186013" y="8262436"/>
            <a:ext cx="2512023" cy="657225"/>
          </a:xfrm>
          <a:prstGeom prst="rect">
            <a:avLst/>
          </a:prstGeom>
        </p:spPr>
        <p:txBody>
          <a:bodyPr anchor="t" rtlCol="false" tIns="0" lIns="0" bIns="0" rIns="0">
            <a:spAutoFit/>
          </a:bodyPr>
          <a:lstStyle/>
          <a:p>
            <a:pPr algn="l">
              <a:lnSpc>
                <a:spcPts val="4800"/>
              </a:lnSpc>
            </a:pPr>
            <a:r>
              <a:rPr lang="en-US" sz="5000" spc="-410">
                <a:solidFill>
                  <a:srgbClr val="000000"/>
                </a:solidFill>
                <a:latin typeface="DM Sans"/>
                <a:ea typeface="DM Sans"/>
                <a:cs typeface="DM Sans"/>
                <a:sym typeface="DM Sans"/>
              </a:rPr>
              <a:t>Dataset</a:t>
            </a:r>
          </a:p>
        </p:txBody>
      </p:sp>
      <p:sp>
        <p:nvSpPr>
          <p:cNvPr name="TextBox 15" id="15"/>
          <p:cNvSpPr txBox="true"/>
          <p:nvPr/>
        </p:nvSpPr>
        <p:spPr>
          <a:xfrm rot="0">
            <a:off x="12218908" y="1328271"/>
            <a:ext cx="4132127" cy="1514475"/>
          </a:xfrm>
          <a:prstGeom prst="rect">
            <a:avLst/>
          </a:prstGeom>
        </p:spPr>
        <p:txBody>
          <a:bodyPr anchor="t" rtlCol="false" tIns="0" lIns="0" bIns="0" rIns="0">
            <a:spAutoFit/>
          </a:bodyPr>
          <a:lstStyle/>
          <a:p>
            <a:pPr algn="l" marL="0" indent="0" lvl="0">
              <a:lnSpc>
                <a:spcPts val="3374"/>
              </a:lnSpc>
              <a:spcBef>
                <a:spcPct val="0"/>
              </a:spcBef>
            </a:pPr>
            <a:r>
              <a:rPr lang="en-US" sz="2499" spc="39">
                <a:solidFill>
                  <a:srgbClr val="000000"/>
                </a:solidFill>
                <a:latin typeface="DM Sans"/>
                <a:ea typeface="DM Sans"/>
                <a:cs typeface="DM Sans"/>
                <a:sym typeface="DM Sans"/>
              </a:rPr>
              <a:t>P</a:t>
            </a:r>
            <a:r>
              <a:rPr lang="en-US" sz="2499" spc="39" u="none">
                <a:solidFill>
                  <a:srgbClr val="000000"/>
                </a:solidFill>
                <a:latin typeface="DM Sans"/>
                <a:ea typeface="DM Sans"/>
                <a:cs typeface="DM Sans"/>
                <a:sym typeface="DM Sans"/>
              </a:rPr>
              <a:t>redict protein function descriptions from protein sequences</a:t>
            </a:r>
          </a:p>
          <a:p>
            <a:pPr algn="l" marL="0" indent="0" lvl="0">
              <a:lnSpc>
                <a:spcPts val="2025"/>
              </a:lnSpc>
              <a:spcBef>
                <a:spcPct val="0"/>
              </a:spcBef>
            </a:pPr>
          </a:p>
        </p:txBody>
      </p:sp>
      <p:sp>
        <p:nvSpPr>
          <p:cNvPr name="TextBox 16" id="16"/>
          <p:cNvSpPr txBox="true"/>
          <p:nvPr/>
        </p:nvSpPr>
        <p:spPr>
          <a:xfrm rot="0">
            <a:off x="12218908" y="4872283"/>
            <a:ext cx="4132127" cy="1666875"/>
          </a:xfrm>
          <a:prstGeom prst="rect">
            <a:avLst/>
          </a:prstGeom>
        </p:spPr>
        <p:txBody>
          <a:bodyPr anchor="t" rtlCol="false" tIns="0" lIns="0" bIns="0" rIns="0">
            <a:spAutoFit/>
          </a:bodyPr>
          <a:lstStyle/>
          <a:p>
            <a:pPr algn="l" marL="0" indent="0" lvl="0">
              <a:lnSpc>
                <a:spcPts val="3374"/>
              </a:lnSpc>
              <a:spcBef>
                <a:spcPct val="0"/>
              </a:spcBef>
            </a:pPr>
            <a:r>
              <a:rPr lang="en-US" sz="2499" spc="39">
                <a:solidFill>
                  <a:srgbClr val="000000"/>
                </a:solidFill>
                <a:latin typeface="DM Sans"/>
                <a:ea typeface="DM Sans"/>
                <a:cs typeface="DM Sans"/>
                <a:sym typeface="DM Sans"/>
              </a:rPr>
              <a:t>M</a:t>
            </a:r>
            <a:r>
              <a:rPr lang="en-US" sz="2499" spc="39" u="none">
                <a:solidFill>
                  <a:srgbClr val="000000"/>
                </a:solidFill>
                <a:latin typeface="DM Sans"/>
                <a:ea typeface="DM Sans"/>
                <a:cs typeface="DM Sans"/>
                <a:sym typeface="DM Sans"/>
              </a:rPr>
              <a:t>ultimodal architecture combining protein language models with causal LLMs</a:t>
            </a:r>
          </a:p>
        </p:txBody>
      </p:sp>
      <p:sp>
        <p:nvSpPr>
          <p:cNvPr name="TextBox 17" id="17"/>
          <p:cNvSpPr txBox="true"/>
          <p:nvPr/>
        </p:nvSpPr>
        <p:spPr>
          <a:xfrm rot="0">
            <a:off x="12218908" y="7735596"/>
            <a:ext cx="4372807" cy="1938338"/>
          </a:xfrm>
          <a:prstGeom prst="rect">
            <a:avLst/>
          </a:prstGeom>
        </p:spPr>
        <p:txBody>
          <a:bodyPr anchor="t" rtlCol="false" tIns="0" lIns="0" bIns="0" rIns="0">
            <a:spAutoFit/>
          </a:bodyPr>
          <a:lstStyle/>
          <a:p>
            <a:pPr algn="l" marL="0" indent="0" lvl="0">
              <a:lnSpc>
                <a:spcPts val="3374"/>
              </a:lnSpc>
              <a:spcBef>
                <a:spcPct val="0"/>
              </a:spcBef>
            </a:pPr>
            <a:r>
              <a:rPr lang="en-US" sz="2499" spc="39">
                <a:solidFill>
                  <a:srgbClr val="000000"/>
                </a:solidFill>
                <a:latin typeface="DM Sans"/>
                <a:ea typeface="DM Sans"/>
                <a:cs typeface="DM Sans"/>
                <a:sym typeface="DM Sans"/>
              </a:rPr>
              <a:t>10,000</a:t>
            </a:r>
            <a:r>
              <a:rPr lang="en-US" sz="2499" spc="39" u="none">
                <a:solidFill>
                  <a:srgbClr val="000000"/>
                </a:solidFill>
                <a:latin typeface="DM Sans"/>
                <a:ea typeface="DM Sans"/>
                <a:cs typeface="DM Sans"/>
                <a:sym typeface="DM Sans"/>
              </a:rPr>
              <a:t> manually reviewed human proteins from UniProt (Swiss-Prot)</a:t>
            </a:r>
          </a:p>
          <a:p>
            <a:pPr algn="l" marL="0" indent="0" lvl="0">
              <a:lnSpc>
                <a:spcPts val="2700"/>
              </a:lnSpc>
              <a:spcBef>
                <a:spcPct val="0"/>
              </a:spcBef>
            </a:pPr>
            <a:r>
              <a:rPr lang="en-US" sz="2000" spc="32" u="none">
                <a:solidFill>
                  <a:srgbClr val="000000"/>
                </a:solidFill>
                <a:latin typeface="DM Sans"/>
                <a:ea typeface="DM Sans"/>
                <a:cs typeface="DM Sans"/>
                <a:sym typeface="DM Sans"/>
              </a:rPr>
              <a:t>Split: 80% train / 10% validation / 10% test</a:t>
            </a:r>
          </a:p>
        </p:txBody>
      </p:sp>
      <p:sp>
        <p:nvSpPr>
          <p:cNvPr name="Freeform 18" id="18"/>
          <p:cNvSpPr/>
          <p:nvPr/>
        </p:nvSpPr>
        <p:spPr>
          <a:xfrm flipH="false" flipV="false" rot="0">
            <a:off x="-848571" y="8919661"/>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4472906" y="-2364815"/>
            <a:ext cx="4980952" cy="3731186"/>
          </a:xfrm>
          <a:custGeom>
            <a:avLst/>
            <a:gdLst/>
            <a:ahLst/>
            <a:cxnLst/>
            <a:rect r="r" b="b" t="t" l="l"/>
            <a:pathLst>
              <a:path h="3731186" w="4980952">
                <a:moveTo>
                  <a:pt x="0" y="0"/>
                </a:moveTo>
                <a:lnTo>
                  <a:pt x="4980951" y="0"/>
                </a:lnTo>
                <a:lnTo>
                  <a:pt x="4980951" y="3731186"/>
                </a:lnTo>
                <a:lnTo>
                  <a:pt x="0" y="3731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20" id="20"/>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21" id="21"/>
          <p:cNvSpPr/>
          <p:nvPr/>
        </p:nvSpPr>
        <p:spPr>
          <a:xfrm flipH="false" flipV="false" rot="0">
            <a:off x="-848571" y="-744412"/>
            <a:ext cx="2597326" cy="2796583"/>
          </a:xfrm>
          <a:custGeom>
            <a:avLst/>
            <a:gdLst/>
            <a:ahLst/>
            <a:cxnLst/>
            <a:rect r="r" b="b" t="t" l="l"/>
            <a:pathLst>
              <a:path h="2796583" w="2597326">
                <a:moveTo>
                  <a:pt x="0" y="0"/>
                </a:moveTo>
                <a:lnTo>
                  <a:pt x="2597327" y="0"/>
                </a:lnTo>
                <a:lnTo>
                  <a:pt x="2597327" y="2796583"/>
                </a:lnTo>
                <a:lnTo>
                  <a:pt x="0" y="27965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22" id="22"/>
          <p:cNvSpPr txBox="true"/>
          <p:nvPr/>
        </p:nvSpPr>
        <p:spPr>
          <a:xfrm rot="0">
            <a:off x="12218908" y="2667245"/>
            <a:ext cx="4372807" cy="1600200"/>
          </a:xfrm>
          <a:prstGeom prst="rect">
            <a:avLst/>
          </a:prstGeom>
        </p:spPr>
        <p:txBody>
          <a:bodyPr anchor="t" rtlCol="false" tIns="0" lIns="0" bIns="0" rIns="0">
            <a:spAutoFit/>
          </a:bodyPr>
          <a:lstStyle/>
          <a:p>
            <a:pPr algn="just">
              <a:lnSpc>
                <a:spcPts val="2100"/>
              </a:lnSpc>
              <a:spcBef>
                <a:spcPct val="0"/>
              </a:spcBef>
            </a:pPr>
            <a:r>
              <a:rPr lang="en-US" b="true" sz="1500" spc="24">
                <a:solidFill>
                  <a:srgbClr val="000000"/>
                </a:solidFill>
                <a:latin typeface="DM Sans Bold"/>
                <a:ea typeface="DM Sans Bold"/>
                <a:cs typeface="DM Sans Bold"/>
                <a:sym typeface="DM Sans Bold"/>
              </a:rPr>
              <a:t>Input</a:t>
            </a:r>
            <a:r>
              <a:rPr lang="en-US" sz="1500" spc="24">
                <a:solidFill>
                  <a:srgbClr val="000000"/>
                </a:solidFill>
                <a:latin typeface="DM Sans"/>
                <a:ea typeface="DM Sans"/>
                <a:cs typeface="DM Sans"/>
                <a:sym typeface="DM Sans"/>
              </a:rPr>
              <a:t>: MKTIIALS</a:t>
            </a:r>
            <a:r>
              <a:rPr lang="en-US" sz="1500" spc="24">
                <a:solidFill>
                  <a:srgbClr val="000000"/>
                </a:solidFill>
                <a:latin typeface="DM Sans"/>
                <a:ea typeface="DM Sans"/>
                <a:cs typeface="DM Sans"/>
                <a:sym typeface="DM Sans"/>
              </a:rPr>
              <a:t>YIFCLVFA... (protein sequence)</a:t>
            </a:r>
          </a:p>
          <a:p>
            <a:pPr algn="just">
              <a:lnSpc>
                <a:spcPts val="2100"/>
              </a:lnSpc>
              <a:spcBef>
                <a:spcPct val="0"/>
              </a:spcBef>
            </a:pPr>
            <a:r>
              <a:rPr lang="en-US" b="true" sz="1500" spc="24">
                <a:solidFill>
                  <a:srgbClr val="000000"/>
                </a:solidFill>
                <a:latin typeface="DM Sans Bold"/>
                <a:ea typeface="DM Sans Bold"/>
                <a:cs typeface="DM Sans Bold"/>
                <a:sym typeface="DM Sans Bold"/>
              </a:rPr>
              <a:t>Output</a:t>
            </a:r>
            <a:r>
              <a:rPr lang="en-US" sz="1500" spc="24">
                <a:solidFill>
                  <a:srgbClr val="000000"/>
                </a:solidFill>
                <a:latin typeface="DM Sans"/>
                <a:ea typeface="DM Sans"/>
                <a:cs typeface="DM Sans"/>
                <a:sym typeface="DM Sans"/>
              </a:rPr>
              <a:t>: "This protein functions as a membrane transporter involved in glucose uptake. It contains 12 transmembrane domains and is primarily expressed in muscle tissue."</a:t>
            </a:r>
          </a:p>
          <a:p>
            <a:pPr algn="just">
              <a:lnSpc>
                <a:spcPts val="210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759905" y="861610"/>
            <a:ext cx="16768190" cy="1063819"/>
          </a:xfrm>
          <a:prstGeom prst="rect">
            <a:avLst/>
          </a:prstGeom>
        </p:spPr>
        <p:txBody>
          <a:bodyPr anchor="t" rtlCol="false" tIns="0" lIns="0" bIns="0" rIns="0">
            <a:spAutoFit/>
          </a:bodyPr>
          <a:lstStyle/>
          <a:p>
            <a:pPr algn="ctr">
              <a:lnSpc>
                <a:spcPts val="7808"/>
              </a:lnSpc>
            </a:pPr>
            <a:r>
              <a:rPr lang="en-US" b="true" sz="8050">
                <a:solidFill>
                  <a:srgbClr val="000000"/>
                </a:solidFill>
                <a:latin typeface="DM Sans Bold"/>
                <a:ea typeface="DM Sans Bold"/>
                <a:cs typeface="DM Sans Bold"/>
                <a:sym typeface="DM Sans Bold"/>
              </a:rPr>
              <a:t>Overall Architecture</a:t>
            </a:r>
          </a:p>
        </p:txBody>
      </p:sp>
      <p:sp>
        <p:nvSpPr>
          <p:cNvPr name="Freeform 3" id="3"/>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1" id="11"/>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2" id="12"/>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3" id="13"/>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4" id="14"/>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5" id="15"/>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6" id="16"/>
          <p:cNvSpPr/>
          <p:nvPr/>
        </p:nvSpPr>
        <p:spPr>
          <a:xfrm flipH="false" flipV="false" rot="0">
            <a:off x="2937419" y="2614558"/>
            <a:ext cx="12900783" cy="5676344"/>
          </a:xfrm>
          <a:custGeom>
            <a:avLst/>
            <a:gdLst/>
            <a:ahLst/>
            <a:cxnLst/>
            <a:rect r="r" b="b" t="t" l="l"/>
            <a:pathLst>
              <a:path h="5676344" w="12900783">
                <a:moveTo>
                  <a:pt x="0" y="0"/>
                </a:moveTo>
                <a:lnTo>
                  <a:pt x="12900783" y="0"/>
                </a:lnTo>
                <a:lnTo>
                  <a:pt x="12900783" y="5676345"/>
                </a:lnTo>
                <a:lnTo>
                  <a:pt x="0" y="5676345"/>
                </a:lnTo>
                <a:lnTo>
                  <a:pt x="0" y="0"/>
                </a:lnTo>
                <a:close/>
              </a:path>
            </a:pathLst>
          </a:custGeom>
          <a:blipFill>
            <a:blip r:embed="rId28"/>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4165173" y="1724796"/>
            <a:ext cx="10459711" cy="1106996"/>
          </a:xfrm>
          <a:prstGeom prst="rect">
            <a:avLst/>
          </a:prstGeom>
        </p:spPr>
        <p:txBody>
          <a:bodyPr anchor="t" rtlCol="false" tIns="0" lIns="0" bIns="0" rIns="0">
            <a:spAutoFit/>
          </a:bodyPr>
          <a:lstStyle/>
          <a:p>
            <a:pPr algn="ctr">
              <a:lnSpc>
                <a:spcPts val="8293"/>
              </a:lnSpc>
            </a:pPr>
            <a:r>
              <a:rPr lang="en-US" b="true" sz="8550">
                <a:solidFill>
                  <a:srgbClr val="000000"/>
                </a:solidFill>
                <a:latin typeface="DM Sans Bold"/>
                <a:ea typeface="DM Sans Bold"/>
                <a:cs typeface="DM Sans Bold"/>
                <a:sym typeface="DM Sans Bold"/>
              </a:rPr>
              <a:t>Core Components</a:t>
            </a:r>
          </a:p>
        </p:txBody>
      </p:sp>
      <p:sp>
        <p:nvSpPr>
          <p:cNvPr name="Freeform 3" id="3"/>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1" id="11"/>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2" id="12"/>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3" id="13"/>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4" id="14"/>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5" id="15"/>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AutoShape 16" id="16"/>
          <p:cNvSpPr/>
          <p:nvPr/>
        </p:nvSpPr>
        <p:spPr>
          <a:xfrm>
            <a:off x="-886757" y="4014289"/>
            <a:ext cx="20061513" cy="0"/>
          </a:xfrm>
          <a:prstGeom prst="line">
            <a:avLst/>
          </a:prstGeom>
          <a:ln cap="flat" w="28575">
            <a:solidFill>
              <a:srgbClr val="000000"/>
            </a:solidFill>
            <a:prstDash val="solid"/>
            <a:headEnd type="none" len="sm" w="sm"/>
            <a:tailEnd type="none" len="sm" w="sm"/>
          </a:ln>
        </p:spPr>
      </p:sp>
      <p:grpSp>
        <p:nvGrpSpPr>
          <p:cNvPr name="Group 17" id="17"/>
          <p:cNvGrpSpPr/>
          <p:nvPr/>
        </p:nvGrpSpPr>
        <p:grpSpPr>
          <a:xfrm rot="0">
            <a:off x="8892972" y="3763261"/>
            <a:ext cx="502056" cy="50205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19" id="19"/>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20" id="20"/>
          <p:cNvGrpSpPr/>
          <p:nvPr/>
        </p:nvGrpSpPr>
        <p:grpSpPr>
          <a:xfrm rot="0">
            <a:off x="2570549" y="3763261"/>
            <a:ext cx="502056" cy="50205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22" id="22"/>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23" id="23"/>
          <p:cNvGrpSpPr/>
          <p:nvPr/>
        </p:nvGrpSpPr>
        <p:grpSpPr>
          <a:xfrm rot="0">
            <a:off x="14947745" y="3763261"/>
            <a:ext cx="502056" cy="50205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25" id="25"/>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26" id="26"/>
          <p:cNvSpPr txBox="true"/>
          <p:nvPr/>
        </p:nvSpPr>
        <p:spPr>
          <a:xfrm rot="0">
            <a:off x="412406" y="4657879"/>
            <a:ext cx="5084173" cy="1188720"/>
          </a:xfrm>
          <a:prstGeom prst="rect">
            <a:avLst/>
          </a:prstGeom>
        </p:spPr>
        <p:txBody>
          <a:bodyPr anchor="t" rtlCol="false" tIns="0" lIns="0" bIns="0" rIns="0">
            <a:spAutoFit/>
          </a:bodyPr>
          <a:lstStyle/>
          <a:p>
            <a:pPr algn="ctr">
              <a:lnSpc>
                <a:spcPts val="3090"/>
              </a:lnSpc>
            </a:pPr>
            <a:r>
              <a:rPr lang="en-US" sz="3000" b="true">
                <a:solidFill>
                  <a:srgbClr val="000000"/>
                </a:solidFill>
                <a:latin typeface="DM Sans Bold"/>
                <a:ea typeface="DM Sans Bold"/>
                <a:cs typeface="DM Sans Bold"/>
                <a:sym typeface="DM Sans Bold"/>
              </a:rPr>
              <a:t>Protein Encoder: </a:t>
            </a:r>
          </a:p>
          <a:p>
            <a:pPr algn="ctr">
              <a:lnSpc>
                <a:spcPts val="3090"/>
              </a:lnSpc>
            </a:pPr>
            <a:r>
              <a:rPr lang="en-US" sz="3000" b="true">
                <a:solidFill>
                  <a:srgbClr val="000000"/>
                </a:solidFill>
                <a:latin typeface="DM Sans Bold"/>
                <a:ea typeface="DM Sans Bold"/>
                <a:cs typeface="DM Sans Bold"/>
                <a:sym typeface="DM Sans Bold"/>
              </a:rPr>
              <a:t>ESM-2 (Meta AI) </a:t>
            </a:r>
          </a:p>
          <a:p>
            <a:pPr algn="ctr">
              <a:lnSpc>
                <a:spcPts val="3090"/>
              </a:lnSpc>
            </a:pPr>
            <a:r>
              <a:rPr lang="en-US" b="true" sz="3000">
                <a:solidFill>
                  <a:srgbClr val="000000"/>
                </a:solidFill>
                <a:latin typeface="DM Sans Bold"/>
                <a:ea typeface="DM Sans Bold"/>
                <a:cs typeface="DM Sans Bold"/>
                <a:sym typeface="DM Sans Bold"/>
              </a:rPr>
              <a:t>(frozen)</a:t>
            </a:r>
          </a:p>
        </p:txBody>
      </p:sp>
      <p:sp>
        <p:nvSpPr>
          <p:cNvPr name="TextBox 27" id="27"/>
          <p:cNvSpPr txBox="true"/>
          <p:nvPr/>
        </p:nvSpPr>
        <p:spPr>
          <a:xfrm rot="0">
            <a:off x="883199" y="6237124"/>
            <a:ext cx="3876757" cy="1967230"/>
          </a:xfrm>
          <a:prstGeom prst="rect">
            <a:avLst/>
          </a:prstGeom>
        </p:spPr>
        <p:txBody>
          <a:bodyPr anchor="t" rtlCol="false" tIns="0" lIns="0" bIns="0" rIns="0">
            <a:spAutoFit/>
          </a:bodyPr>
          <a:lstStyle/>
          <a:p>
            <a:pPr algn="ctr">
              <a:lnSpc>
                <a:spcPts val="3920"/>
              </a:lnSpc>
            </a:pPr>
            <a:r>
              <a:rPr lang="en-US" sz="2800">
                <a:solidFill>
                  <a:srgbClr val="000000"/>
                </a:solidFill>
                <a:latin typeface="Canva Sans"/>
                <a:ea typeface="Canva Sans"/>
                <a:cs typeface="Canva Sans"/>
                <a:sym typeface="Canva Sans"/>
              </a:rPr>
              <a:t>Pro</a:t>
            </a:r>
            <a:r>
              <a:rPr lang="en-US" sz="2800">
                <a:solidFill>
                  <a:srgbClr val="000000"/>
                </a:solidFill>
                <a:latin typeface="Canva Sans"/>
                <a:ea typeface="Canva Sans"/>
                <a:cs typeface="Canva Sans"/>
                <a:sym typeface="Canva Sans"/>
              </a:rPr>
              <a:t>duces contextualized embeddings from sequences</a:t>
            </a:r>
          </a:p>
        </p:txBody>
      </p:sp>
      <p:sp>
        <p:nvSpPr>
          <p:cNvPr name="TextBox 28" id="28"/>
          <p:cNvSpPr txBox="true"/>
          <p:nvPr/>
        </p:nvSpPr>
        <p:spPr>
          <a:xfrm rot="0">
            <a:off x="6734828" y="4657879"/>
            <a:ext cx="4818344" cy="798195"/>
          </a:xfrm>
          <a:prstGeom prst="rect">
            <a:avLst/>
          </a:prstGeom>
        </p:spPr>
        <p:txBody>
          <a:bodyPr anchor="t" rtlCol="false" tIns="0" lIns="0" bIns="0" rIns="0">
            <a:spAutoFit/>
          </a:bodyPr>
          <a:lstStyle/>
          <a:p>
            <a:pPr algn="ctr">
              <a:lnSpc>
                <a:spcPts val="3090"/>
              </a:lnSpc>
            </a:pPr>
            <a:r>
              <a:rPr lang="en-US" b="true" sz="3000">
                <a:solidFill>
                  <a:srgbClr val="000000"/>
                </a:solidFill>
                <a:latin typeface="DM Sans Bold"/>
                <a:ea typeface="DM Sans Bold"/>
                <a:cs typeface="DM Sans Bold"/>
                <a:sym typeface="DM Sans Bold"/>
              </a:rPr>
              <a:t>Projection Network: Trainable MLP</a:t>
            </a:r>
          </a:p>
        </p:txBody>
      </p:sp>
      <p:sp>
        <p:nvSpPr>
          <p:cNvPr name="TextBox 29" id="29"/>
          <p:cNvSpPr txBox="true"/>
          <p:nvPr/>
        </p:nvSpPr>
        <p:spPr>
          <a:xfrm rot="0">
            <a:off x="12789602" y="4657879"/>
            <a:ext cx="5129287" cy="1188720"/>
          </a:xfrm>
          <a:prstGeom prst="rect">
            <a:avLst/>
          </a:prstGeom>
        </p:spPr>
        <p:txBody>
          <a:bodyPr anchor="t" rtlCol="false" tIns="0" lIns="0" bIns="0" rIns="0">
            <a:spAutoFit/>
          </a:bodyPr>
          <a:lstStyle/>
          <a:p>
            <a:pPr algn="ctr">
              <a:lnSpc>
                <a:spcPts val="3090"/>
              </a:lnSpc>
            </a:pPr>
            <a:r>
              <a:rPr lang="en-US" sz="3000" b="true">
                <a:solidFill>
                  <a:srgbClr val="000000"/>
                </a:solidFill>
                <a:latin typeface="DM Sans Bold"/>
                <a:ea typeface="DM Sans Bold"/>
                <a:cs typeface="DM Sans Bold"/>
                <a:sym typeface="DM Sans Bold"/>
              </a:rPr>
              <a:t>Language Model: </a:t>
            </a:r>
          </a:p>
          <a:p>
            <a:pPr algn="ctr">
              <a:lnSpc>
                <a:spcPts val="3090"/>
              </a:lnSpc>
            </a:pPr>
            <a:r>
              <a:rPr lang="en-US" b="true" sz="3000">
                <a:solidFill>
                  <a:srgbClr val="000000"/>
                </a:solidFill>
                <a:latin typeface="DM Sans Bold"/>
                <a:ea typeface="DM Sans Bold"/>
                <a:cs typeface="DM Sans Bold"/>
                <a:sym typeface="DM Sans Bold"/>
              </a:rPr>
              <a:t>Phi-2 (Microsoft Research) (LoRA fine-tuned)</a:t>
            </a:r>
          </a:p>
        </p:txBody>
      </p:sp>
      <p:sp>
        <p:nvSpPr>
          <p:cNvPr name="TextBox 30" id="30"/>
          <p:cNvSpPr txBox="true"/>
          <p:nvPr/>
        </p:nvSpPr>
        <p:spPr>
          <a:xfrm rot="0">
            <a:off x="6803226" y="6040602"/>
            <a:ext cx="4681548" cy="2957830"/>
          </a:xfrm>
          <a:prstGeom prst="rect">
            <a:avLst/>
          </a:prstGeom>
        </p:spPr>
        <p:txBody>
          <a:bodyPr anchor="t" rtlCol="false" tIns="0" lIns="0" bIns="0" rIns="0">
            <a:spAutoFit/>
          </a:bodyPr>
          <a:lstStyle/>
          <a:p>
            <a:pPr algn="l" marL="604523" indent="-302261" lvl="1">
              <a:lnSpc>
                <a:spcPts val="3920"/>
              </a:lnSpc>
              <a:buFont typeface="Arial"/>
              <a:buChar char="•"/>
            </a:pPr>
            <a:r>
              <a:rPr lang="en-US" sz="2800">
                <a:solidFill>
                  <a:srgbClr val="000000"/>
                </a:solidFill>
                <a:latin typeface="Canva Sans"/>
                <a:ea typeface="Canva Sans"/>
                <a:cs typeface="Canva Sans"/>
                <a:sym typeface="Canva Sans"/>
              </a:rPr>
              <a:t>Map</a:t>
            </a:r>
            <a:r>
              <a:rPr lang="en-US" sz="2800">
                <a:solidFill>
                  <a:srgbClr val="000000"/>
                </a:solidFill>
                <a:latin typeface="Canva Sans"/>
                <a:ea typeface="Canva Sans"/>
                <a:cs typeface="Canva Sans"/>
                <a:sym typeface="Canva Sans"/>
              </a:rPr>
              <a:t>s 1280-dim ESM → 2560-dim LLM space</a:t>
            </a:r>
          </a:p>
          <a:p>
            <a:pPr algn="l" marL="604523" indent="-302261" lvl="1">
              <a:lnSpc>
                <a:spcPts val="3920"/>
              </a:lnSpc>
              <a:buFont typeface="Arial"/>
              <a:buChar char="•"/>
            </a:pPr>
            <a:r>
              <a:rPr lang="en-US" sz="2800">
                <a:solidFill>
                  <a:srgbClr val="000000"/>
                </a:solidFill>
                <a:latin typeface="Canva Sans"/>
                <a:ea typeface="Canva Sans"/>
                <a:cs typeface="Canva Sans"/>
                <a:sym typeface="Canva Sans"/>
              </a:rPr>
              <a:t>Architecture: Linear(1280→2048) → GELU → Linear(2048→2560)</a:t>
            </a:r>
          </a:p>
        </p:txBody>
      </p:sp>
      <p:sp>
        <p:nvSpPr>
          <p:cNvPr name="TextBox 31" id="31"/>
          <p:cNvSpPr txBox="true"/>
          <p:nvPr/>
        </p:nvSpPr>
        <p:spPr>
          <a:xfrm rot="0">
            <a:off x="13415867" y="6132349"/>
            <a:ext cx="3876757" cy="2957830"/>
          </a:xfrm>
          <a:prstGeom prst="rect">
            <a:avLst/>
          </a:prstGeom>
        </p:spPr>
        <p:txBody>
          <a:bodyPr anchor="t" rtlCol="false" tIns="0" lIns="0" bIns="0" rIns="0">
            <a:spAutoFit/>
          </a:bodyPr>
          <a:lstStyle/>
          <a:p>
            <a:pPr algn="l" marL="604523" indent="-302261" lvl="1">
              <a:lnSpc>
                <a:spcPts val="3920"/>
              </a:lnSpc>
              <a:buFont typeface="Arial"/>
              <a:buChar char="•"/>
            </a:pPr>
            <a:r>
              <a:rPr lang="en-US" sz="2800">
                <a:solidFill>
                  <a:srgbClr val="000000"/>
                </a:solidFill>
                <a:latin typeface="Canva Sans"/>
                <a:ea typeface="Canva Sans"/>
                <a:cs typeface="Canva Sans"/>
                <a:sym typeface="Canva Sans"/>
              </a:rPr>
              <a:t>2.7B param</a:t>
            </a:r>
            <a:r>
              <a:rPr lang="en-US" sz="2800">
                <a:solidFill>
                  <a:srgbClr val="000000"/>
                </a:solidFill>
                <a:latin typeface="Canva Sans"/>
                <a:ea typeface="Canva Sans"/>
                <a:cs typeface="Canva Sans"/>
                <a:sym typeface="Canva Sans"/>
              </a:rPr>
              <a:t>eter causal LM from Microsoft</a:t>
            </a:r>
          </a:p>
          <a:p>
            <a:pPr algn="l" marL="604523" indent="-302261" lvl="1">
              <a:lnSpc>
                <a:spcPts val="3920"/>
              </a:lnSpc>
              <a:buFont typeface="Arial"/>
              <a:buChar char="•"/>
            </a:pPr>
            <a:r>
              <a:rPr lang="en-US" sz="2800">
                <a:solidFill>
                  <a:srgbClr val="000000"/>
                </a:solidFill>
                <a:latin typeface="Canva Sans"/>
                <a:ea typeface="Canva Sans"/>
                <a:cs typeface="Canva Sans"/>
                <a:sym typeface="Canva Sans"/>
              </a:rPr>
              <a:t>LoRA: r=16, α=32 on q_proj and v_proj layer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60304" y="0"/>
            <a:ext cx="4208573" cy="4247184"/>
          </a:xfrm>
          <a:custGeom>
            <a:avLst/>
            <a:gdLst/>
            <a:ahLst/>
            <a:cxnLst/>
            <a:rect r="r" b="b" t="t" l="l"/>
            <a:pathLst>
              <a:path h="4247184" w="4208573">
                <a:moveTo>
                  <a:pt x="0" y="0"/>
                </a:moveTo>
                <a:lnTo>
                  <a:pt x="4208574" y="0"/>
                </a:lnTo>
                <a:lnTo>
                  <a:pt x="4208574" y="4247184"/>
                </a:lnTo>
                <a:lnTo>
                  <a:pt x="0" y="4247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012889" y="8131782"/>
            <a:ext cx="2587020" cy="2386526"/>
          </a:xfrm>
          <a:custGeom>
            <a:avLst/>
            <a:gdLst/>
            <a:ahLst/>
            <a:cxnLst/>
            <a:rect r="r" b="b" t="t" l="l"/>
            <a:pathLst>
              <a:path h="2386526" w="2587020">
                <a:moveTo>
                  <a:pt x="0" y="0"/>
                </a:moveTo>
                <a:lnTo>
                  <a:pt x="2587019" y="0"/>
                </a:lnTo>
                <a:lnTo>
                  <a:pt x="2587019" y="2386526"/>
                </a:lnTo>
                <a:lnTo>
                  <a:pt x="0" y="23865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96193" y="8871497"/>
            <a:ext cx="3695581" cy="907097"/>
          </a:xfrm>
          <a:custGeom>
            <a:avLst/>
            <a:gdLst/>
            <a:ahLst/>
            <a:cxnLst/>
            <a:rect r="r" b="b" t="t" l="l"/>
            <a:pathLst>
              <a:path h="907097" w="3695581">
                <a:moveTo>
                  <a:pt x="0" y="0"/>
                </a:moveTo>
                <a:lnTo>
                  <a:pt x="3695580" y="0"/>
                </a:lnTo>
                <a:lnTo>
                  <a:pt x="3695580" y="907097"/>
                </a:lnTo>
                <a:lnTo>
                  <a:pt x="0" y="9070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861773" y="202350"/>
            <a:ext cx="6607706" cy="8854547"/>
          </a:xfrm>
          <a:custGeom>
            <a:avLst/>
            <a:gdLst/>
            <a:ahLst/>
            <a:cxnLst/>
            <a:rect r="r" b="b" t="t" l="l"/>
            <a:pathLst>
              <a:path h="8854547" w="6607706">
                <a:moveTo>
                  <a:pt x="0" y="0"/>
                </a:moveTo>
                <a:lnTo>
                  <a:pt x="6607705" y="0"/>
                </a:lnTo>
                <a:lnTo>
                  <a:pt x="6607705" y="8854547"/>
                </a:lnTo>
                <a:lnTo>
                  <a:pt x="0" y="8854547"/>
                </a:lnTo>
                <a:lnTo>
                  <a:pt x="0" y="0"/>
                </a:lnTo>
                <a:close/>
              </a:path>
            </a:pathLst>
          </a:custGeom>
          <a:blipFill>
            <a:blip r:embed="rId8"/>
            <a:stretch>
              <a:fillRect l="0" t="0" r="0" b="0"/>
            </a:stretch>
          </a:blipFill>
        </p:spPr>
      </p:sp>
      <p:sp>
        <p:nvSpPr>
          <p:cNvPr name="TextBox 6" id="6"/>
          <p:cNvSpPr txBox="true"/>
          <p:nvPr/>
        </p:nvSpPr>
        <p:spPr>
          <a:xfrm rot="0">
            <a:off x="1051906" y="788131"/>
            <a:ext cx="8960982" cy="1106996"/>
          </a:xfrm>
          <a:prstGeom prst="rect">
            <a:avLst/>
          </a:prstGeom>
        </p:spPr>
        <p:txBody>
          <a:bodyPr anchor="t" rtlCol="false" tIns="0" lIns="0" bIns="0" rIns="0">
            <a:spAutoFit/>
          </a:bodyPr>
          <a:lstStyle/>
          <a:p>
            <a:pPr algn="l">
              <a:lnSpc>
                <a:spcPts val="8293"/>
              </a:lnSpc>
            </a:pPr>
            <a:r>
              <a:rPr lang="en-US" sz="8550" b="true">
                <a:solidFill>
                  <a:srgbClr val="000000"/>
                </a:solidFill>
                <a:latin typeface="DM Sans Bold"/>
                <a:ea typeface="DM Sans Bold"/>
                <a:cs typeface="DM Sans Bold"/>
                <a:sym typeface="DM Sans Bold"/>
              </a:rPr>
              <a:t>Data Preparation</a:t>
            </a:r>
          </a:p>
        </p:txBody>
      </p:sp>
      <p:sp>
        <p:nvSpPr>
          <p:cNvPr name="TextBox 7" id="7"/>
          <p:cNvSpPr txBox="true"/>
          <p:nvPr/>
        </p:nvSpPr>
        <p:spPr>
          <a:xfrm rot="0">
            <a:off x="1028700" y="1983908"/>
            <a:ext cx="8780163" cy="8191500"/>
          </a:xfrm>
          <a:prstGeom prst="rect">
            <a:avLst/>
          </a:prstGeom>
        </p:spPr>
        <p:txBody>
          <a:bodyPr anchor="t" rtlCol="false" tIns="0" lIns="0" bIns="0" rIns="0">
            <a:spAutoFit/>
          </a:bodyPr>
          <a:lstStyle/>
          <a:p>
            <a:pPr algn="l" marL="0" indent="0" lvl="0">
              <a:lnSpc>
                <a:spcPts val="4049"/>
              </a:lnSpc>
              <a:spcBef>
                <a:spcPct val="0"/>
              </a:spcBef>
            </a:pPr>
            <a:r>
              <a:rPr lang="en-US" b="true" sz="2999" spc="179">
                <a:solidFill>
                  <a:srgbClr val="000000"/>
                </a:solidFill>
                <a:latin typeface="DM Sans Bold"/>
                <a:ea typeface="DM Sans Bold"/>
                <a:cs typeface="DM Sans Bold"/>
                <a:sym typeface="DM Sans Bold"/>
              </a:rPr>
              <a:t>U</a:t>
            </a:r>
            <a:r>
              <a:rPr lang="en-US" b="true" sz="2999" spc="179" u="none">
                <a:solidFill>
                  <a:srgbClr val="000000"/>
                </a:solidFill>
                <a:latin typeface="DM Sans Bold"/>
                <a:ea typeface="DM Sans Bold"/>
                <a:cs typeface="DM Sans Bold"/>
                <a:sym typeface="DM Sans Bold"/>
              </a:rPr>
              <a:t>niProt Data Fetching</a:t>
            </a:r>
          </a:p>
          <a:p>
            <a:pPr algn="l" marL="431801" indent="-215900" lvl="1">
              <a:lnSpc>
                <a:spcPts val="2700"/>
              </a:lnSpc>
              <a:spcBef>
                <a:spcPct val="0"/>
              </a:spcBef>
              <a:buFont typeface="Arial"/>
              <a:buChar char="•"/>
            </a:pPr>
            <a:r>
              <a:rPr lang="en-US" sz="2000" spc="120" u="none">
                <a:solidFill>
                  <a:srgbClr val="000000"/>
                </a:solidFill>
                <a:latin typeface="DM Sans"/>
                <a:ea typeface="DM Sans"/>
                <a:cs typeface="DM Sans"/>
                <a:sym typeface="DM Sans"/>
              </a:rPr>
              <a:t>High-quality protein data is fetched using UniProt's REST API</a:t>
            </a:r>
          </a:p>
          <a:p>
            <a:pPr algn="l" marL="431801" indent="-215900" lvl="1">
              <a:lnSpc>
                <a:spcPts val="2700"/>
              </a:lnSpc>
              <a:spcBef>
                <a:spcPct val="0"/>
              </a:spcBef>
              <a:buFont typeface="Arial"/>
              <a:buChar char="•"/>
            </a:pPr>
            <a:r>
              <a:rPr lang="en-US" sz="2000" spc="120" u="none">
                <a:solidFill>
                  <a:srgbClr val="000000"/>
                </a:solidFill>
                <a:latin typeface="DM Sans"/>
                <a:ea typeface="DM Sans"/>
                <a:cs typeface="DM Sans"/>
                <a:sym typeface="DM Sans"/>
              </a:rPr>
              <a:t>Targeting Swiss-Prot reviewed entries from human proteins (organism_id:9606)</a:t>
            </a:r>
          </a:p>
          <a:p>
            <a:pPr algn="l" marL="431801" indent="-215900" lvl="1">
              <a:lnSpc>
                <a:spcPts val="2700"/>
              </a:lnSpc>
              <a:spcBef>
                <a:spcPct val="0"/>
              </a:spcBef>
              <a:buFont typeface="Arial"/>
              <a:buChar char="•"/>
            </a:pPr>
            <a:r>
              <a:rPr lang="en-US" sz="2000" spc="120" u="none">
                <a:solidFill>
                  <a:srgbClr val="000000"/>
                </a:solidFill>
                <a:latin typeface="DM Sans"/>
                <a:ea typeface="DM Sans"/>
                <a:cs typeface="DM Sans"/>
                <a:sym typeface="DM Sans"/>
              </a:rPr>
              <a:t>Metadata includes:</a:t>
            </a:r>
          </a:p>
          <a:p>
            <a:pPr algn="l" marL="1295402" indent="-323850" lvl="3">
              <a:lnSpc>
                <a:spcPts val="2700"/>
              </a:lnSpc>
              <a:spcBef>
                <a:spcPct val="0"/>
              </a:spcBef>
              <a:buFont typeface="Arial"/>
              <a:buChar char="￭"/>
            </a:pPr>
            <a:r>
              <a:rPr lang="en-US" sz="2000" spc="120" u="none">
                <a:solidFill>
                  <a:srgbClr val="000000"/>
                </a:solidFill>
                <a:latin typeface="DM Sans"/>
                <a:ea typeface="DM Sans"/>
                <a:cs typeface="DM Sans"/>
                <a:sym typeface="DM Sans"/>
              </a:rPr>
              <a:t>Core data: accession IDs, protein names, gene names, amino acid sequences</a:t>
            </a:r>
          </a:p>
          <a:p>
            <a:pPr algn="l" marL="1295402" indent="-323850" lvl="3">
              <a:lnSpc>
                <a:spcPts val="2700"/>
              </a:lnSpc>
              <a:spcBef>
                <a:spcPct val="0"/>
              </a:spcBef>
              <a:buFont typeface="Arial"/>
              <a:buChar char="￭"/>
            </a:pPr>
            <a:r>
              <a:rPr lang="en-US" sz="2000" spc="120" u="none">
                <a:solidFill>
                  <a:srgbClr val="000000"/>
                </a:solidFill>
                <a:latin typeface="DM Sans"/>
                <a:ea typeface="DM Sans"/>
                <a:cs typeface="DM Sans"/>
                <a:sym typeface="DM Sans"/>
              </a:rPr>
              <a:t>Functional annotations: detailed function descriptions </a:t>
            </a:r>
          </a:p>
          <a:p>
            <a:pPr algn="l" marL="1295402" indent="-323850" lvl="3">
              <a:lnSpc>
                <a:spcPts val="2700"/>
              </a:lnSpc>
              <a:spcBef>
                <a:spcPct val="0"/>
              </a:spcBef>
              <a:buFont typeface="Arial"/>
              <a:buChar char="￭"/>
            </a:pPr>
            <a:r>
              <a:rPr lang="en-US" sz="2000" spc="120" u="none">
                <a:solidFill>
                  <a:srgbClr val="000000"/>
                </a:solidFill>
                <a:latin typeface="DM Sans"/>
                <a:ea typeface="DM Sans"/>
                <a:cs typeface="DM Sans"/>
                <a:sym typeface="DM Sans"/>
              </a:rPr>
              <a:t>Ontology terms: GO (Gene Ontology) terms and EC (Enzyme Commission) numbers</a:t>
            </a:r>
          </a:p>
          <a:p>
            <a:pPr algn="l">
              <a:lnSpc>
                <a:spcPts val="2700"/>
              </a:lnSpc>
              <a:spcBef>
                <a:spcPct val="0"/>
              </a:spcBef>
            </a:pPr>
          </a:p>
          <a:p>
            <a:pPr algn="l">
              <a:lnSpc>
                <a:spcPts val="4050"/>
              </a:lnSpc>
              <a:spcBef>
                <a:spcPct val="0"/>
              </a:spcBef>
            </a:pPr>
            <a:r>
              <a:rPr lang="en-US" b="true" sz="3000" spc="179" u="none">
                <a:solidFill>
                  <a:srgbClr val="000000"/>
                </a:solidFill>
                <a:latin typeface="DM Sans Bold"/>
                <a:ea typeface="DM Sans Bold"/>
                <a:cs typeface="DM Sans Bold"/>
                <a:sym typeface="DM Sans Bold"/>
              </a:rPr>
              <a:t>Pre-processing</a:t>
            </a:r>
          </a:p>
          <a:p>
            <a:pPr algn="l" marL="431801" indent="-215900" lvl="1">
              <a:lnSpc>
                <a:spcPts val="2700"/>
              </a:lnSpc>
              <a:buFont typeface="Arial"/>
              <a:buChar char="•"/>
            </a:pPr>
            <a:r>
              <a:rPr lang="en-US" sz="2000" spc="120" u="none">
                <a:solidFill>
                  <a:srgbClr val="000000"/>
                </a:solidFill>
                <a:latin typeface="DM Sans"/>
                <a:ea typeface="DM Sans"/>
                <a:cs typeface="DM Sans"/>
                <a:sym typeface="DM Sans"/>
              </a:rPr>
              <a:t>Function text undergoes cleaning:</a:t>
            </a:r>
          </a:p>
          <a:p>
            <a:pPr algn="l" marL="1295402" indent="-323850" lvl="3">
              <a:lnSpc>
                <a:spcPts val="2700"/>
              </a:lnSpc>
              <a:buFont typeface="Arial"/>
              <a:buChar char="￭"/>
            </a:pPr>
            <a:r>
              <a:rPr lang="en-US" sz="2000" spc="120" u="none">
                <a:solidFill>
                  <a:srgbClr val="000000"/>
                </a:solidFill>
                <a:latin typeface="DM Sans"/>
                <a:ea typeface="DM Sans"/>
                <a:cs typeface="DM Sans"/>
                <a:sym typeface="DM Sans"/>
              </a:rPr>
              <a:t>to remove reference citations</a:t>
            </a:r>
          </a:p>
          <a:p>
            <a:pPr algn="l" marL="1295402" indent="-323850" lvl="3">
              <a:lnSpc>
                <a:spcPts val="2700"/>
              </a:lnSpc>
              <a:buFont typeface="Arial"/>
              <a:buChar char="￭"/>
            </a:pPr>
            <a:r>
              <a:rPr lang="en-US" sz="2000" spc="120" u="none">
                <a:solidFill>
                  <a:srgbClr val="000000"/>
                </a:solidFill>
                <a:latin typeface="DM Sans"/>
                <a:ea typeface="DM Sans"/>
                <a:cs typeface="DM Sans"/>
                <a:sym typeface="DM Sans"/>
              </a:rPr>
              <a:t>normalize whitespace</a:t>
            </a:r>
          </a:p>
          <a:p>
            <a:pPr algn="l" marL="1295402" indent="-323850" lvl="3">
              <a:lnSpc>
                <a:spcPts val="2700"/>
              </a:lnSpc>
              <a:buFont typeface="Arial"/>
              <a:buChar char="￭"/>
            </a:pPr>
            <a:r>
              <a:rPr lang="en-US" sz="2000" spc="120" u="none">
                <a:solidFill>
                  <a:srgbClr val="000000"/>
                </a:solidFill>
                <a:latin typeface="DM Sans"/>
                <a:ea typeface="DM Sans"/>
                <a:cs typeface="DM Sans"/>
                <a:sym typeface="DM Sans"/>
              </a:rPr>
              <a:t>exclude entries with very small function text length</a:t>
            </a:r>
            <a:r>
              <a:rPr lang="en-US" sz="2000" spc="120" u="none">
                <a:solidFill>
                  <a:srgbClr val="000000"/>
                </a:solidFill>
                <a:latin typeface="DM Sans"/>
                <a:ea typeface="DM Sans"/>
                <a:cs typeface="DM Sans"/>
                <a:sym typeface="DM Sans"/>
              </a:rPr>
              <a:t>. </a:t>
            </a:r>
          </a:p>
          <a:p>
            <a:pPr algn="l">
              <a:lnSpc>
                <a:spcPts val="2700"/>
              </a:lnSpc>
            </a:pPr>
          </a:p>
          <a:p>
            <a:pPr algn="l" marL="431801" indent="-215900" lvl="1">
              <a:lnSpc>
                <a:spcPts val="2700"/>
              </a:lnSpc>
              <a:buFont typeface="Arial"/>
              <a:buChar char="•"/>
            </a:pPr>
            <a:r>
              <a:rPr lang="en-US" sz="2000" spc="120" u="none">
                <a:solidFill>
                  <a:srgbClr val="000000"/>
                </a:solidFill>
                <a:latin typeface="DM Sans"/>
                <a:ea typeface="DM Sans"/>
                <a:cs typeface="DM Sans"/>
                <a:sym typeface="DM Sans"/>
              </a:rPr>
              <a:t>P</a:t>
            </a:r>
            <a:r>
              <a:rPr lang="en-US" sz="2000" spc="120" u="none">
                <a:solidFill>
                  <a:srgbClr val="000000"/>
                </a:solidFill>
                <a:latin typeface="DM Sans"/>
                <a:ea typeface="DM Sans"/>
                <a:cs typeface="DM Sans"/>
                <a:sym typeface="DM Sans"/>
              </a:rPr>
              <a:t>rocessed dataset is split into train (80%), validation (10%), and test (10%) sets, with all splits saved as JSON files containing sequence, function, and metadata for each protein.</a:t>
            </a:r>
          </a:p>
          <a:p>
            <a:pPr algn="l" marL="0" indent="0" lvl="0">
              <a:lnSpc>
                <a:spcPts val="2699"/>
              </a:lnSpc>
              <a:spcBef>
                <a:spcPct val="0"/>
              </a:spcBef>
            </a:pPr>
          </a:p>
          <a:p>
            <a:pPr algn="l" marL="0" indent="0" lvl="0">
              <a:lnSpc>
                <a:spcPts val="2699"/>
              </a:lnSpc>
              <a:spcBef>
                <a:spcPct val="0"/>
              </a:spcBef>
            </a:pPr>
          </a:p>
          <a:p>
            <a:pPr algn="l" marL="0" indent="0" lvl="0">
              <a:lnSpc>
                <a:spcPts val="26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5302718" y="-877214"/>
            <a:ext cx="4208573" cy="4247184"/>
          </a:xfrm>
          <a:custGeom>
            <a:avLst/>
            <a:gdLst/>
            <a:ahLst/>
            <a:cxnLst/>
            <a:rect r="r" b="b" t="t" l="l"/>
            <a:pathLst>
              <a:path h="4247184" w="4208573">
                <a:moveTo>
                  <a:pt x="0" y="0"/>
                </a:moveTo>
                <a:lnTo>
                  <a:pt x="4208573" y="0"/>
                </a:lnTo>
                <a:lnTo>
                  <a:pt x="4208573" y="4247185"/>
                </a:lnTo>
                <a:lnTo>
                  <a:pt x="0" y="42471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012889" y="8131782"/>
            <a:ext cx="2587020" cy="2386526"/>
          </a:xfrm>
          <a:custGeom>
            <a:avLst/>
            <a:gdLst/>
            <a:ahLst/>
            <a:cxnLst/>
            <a:rect r="r" b="b" t="t" l="l"/>
            <a:pathLst>
              <a:path h="2386526" w="2587020">
                <a:moveTo>
                  <a:pt x="0" y="0"/>
                </a:moveTo>
                <a:lnTo>
                  <a:pt x="2587019" y="0"/>
                </a:lnTo>
                <a:lnTo>
                  <a:pt x="2587019" y="2386526"/>
                </a:lnTo>
                <a:lnTo>
                  <a:pt x="0" y="23865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96193" y="8871497"/>
            <a:ext cx="3695581" cy="907097"/>
          </a:xfrm>
          <a:custGeom>
            <a:avLst/>
            <a:gdLst/>
            <a:ahLst/>
            <a:cxnLst/>
            <a:rect r="r" b="b" t="t" l="l"/>
            <a:pathLst>
              <a:path h="907097" w="3695581">
                <a:moveTo>
                  <a:pt x="0" y="0"/>
                </a:moveTo>
                <a:lnTo>
                  <a:pt x="3695580" y="0"/>
                </a:lnTo>
                <a:lnTo>
                  <a:pt x="3695580" y="907097"/>
                </a:lnTo>
                <a:lnTo>
                  <a:pt x="0" y="9070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9534033" y="2680811"/>
            <a:ext cx="8504960" cy="6190685"/>
          </a:xfrm>
          <a:custGeom>
            <a:avLst/>
            <a:gdLst/>
            <a:ahLst/>
            <a:cxnLst/>
            <a:rect r="r" b="b" t="t" l="l"/>
            <a:pathLst>
              <a:path h="6190685" w="8504960">
                <a:moveTo>
                  <a:pt x="0" y="0"/>
                </a:moveTo>
                <a:lnTo>
                  <a:pt x="8504961" y="0"/>
                </a:lnTo>
                <a:lnTo>
                  <a:pt x="8504961" y="6190686"/>
                </a:lnTo>
                <a:lnTo>
                  <a:pt x="0" y="6190686"/>
                </a:lnTo>
                <a:lnTo>
                  <a:pt x="0" y="0"/>
                </a:lnTo>
                <a:close/>
              </a:path>
            </a:pathLst>
          </a:custGeom>
          <a:blipFill>
            <a:blip r:embed="rId8"/>
            <a:stretch>
              <a:fillRect l="0" t="0" r="0" b="0"/>
            </a:stretch>
          </a:blipFill>
        </p:spPr>
      </p:sp>
      <p:sp>
        <p:nvSpPr>
          <p:cNvPr name="TextBox 6" id="6"/>
          <p:cNvSpPr txBox="true"/>
          <p:nvPr/>
        </p:nvSpPr>
        <p:spPr>
          <a:xfrm rot="0">
            <a:off x="1051906" y="788131"/>
            <a:ext cx="14250811" cy="1106996"/>
          </a:xfrm>
          <a:prstGeom prst="rect">
            <a:avLst/>
          </a:prstGeom>
        </p:spPr>
        <p:txBody>
          <a:bodyPr anchor="t" rtlCol="false" tIns="0" lIns="0" bIns="0" rIns="0">
            <a:spAutoFit/>
          </a:bodyPr>
          <a:lstStyle/>
          <a:p>
            <a:pPr algn="l">
              <a:lnSpc>
                <a:spcPts val="8293"/>
              </a:lnSpc>
            </a:pPr>
            <a:r>
              <a:rPr lang="en-US" sz="8550" b="true">
                <a:solidFill>
                  <a:srgbClr val="000000"/>
                </a:solidFill>
                <a:latin typeface="DM Sans Bold"/>
                <a:ea typeface="DM Sans Bold"/>
                <a:cs typeface="DM Sans Bold"/>
                <a:sym typeface="DM Sans Bold"/>
              </a:rPr>
              <a:t>Embedding Generation</a:t>
            </a:r>
          </a:p>
        </p:txBody>
      </p:sp>
      <p:sp>
        <p:nvSpPr>
          <p:cNvPr name="TextBox 7" id="7"/>
          <p:cNvSpPr txBox="true"/>
          <p:nvPr/>
        </p:nvSpPr>
        <p:spPr>
          <a:xfrm rot="0">
            <a:off x="881267" y="2652236"/>
            <a:ext cx="7125406" cy="5350182"/>
          </a:xfrm>
          <a:prstGeom prst="rect">
            <a:avLst/>
          </a:prstGeom>
        </p:spPr>
        <p:txBody>
          <a:bodyPr anchor="t" rtlCol="false" tIns="0" lIns="0" bIns="0" rIns="0">
            <a:spAutoFit/>
          </a:bodyPr>
          <a:lstStyle/>
          <a:p>
            <a:pPr algn="l" marL="572251" indent="-286126" lvl="1">
              <a:lnSpc>
                <a:spcPts val="3578"/>
              </a:lnSpc>
              <a:buFont typeface="Arial"/>
              <a:buChar char="•"/>
            </a:pPr>
            <a:r>
              <a:rPr lang="en-US" sz="2650" spc="159">
                <a:solidFill>
                  <a:srgbClr val="000000"/>
                </a:solidFill>
                <a:latin typeface="DM Sans"/>
                <a:ea typeface="DM Sans"/>
                <a:cs typeface="DM Sans"/>
                <a:sym typeface="DM Sans"/>
              </a:rPr>
              <a:t>The embedding generation uses Meta's ESM-2 (650M parameter variant) protein language model to create rich representations.</a:t>
            </a:r>
          </a:p>
          <a:p>
            <a:pPr algn="l">
              <a:lnSpc>
                <a:spcPts val="3578"/>
              </a:lnSpc>
            </a:pPr>
          </a:p>
          <a:p>
            <a:pPr algn="l" marL="572251" indent="-286126" lvl="1">
              <a:lnSpc>
                <a:spcPts val="3578"/>
              </a:lnSpc>
              <a:buFont typeface="Arial"/>
              <a:buChar char="•"/>
            </a:pPr>
            <a:r>
              <a:rPr lang="en-US" sz="2650" spc="159">
                <a:solidFill>
                  <a:srgbClr val="000000"/>
                </a:solidFill>
                <a:latin typeface="DM Sans"/>
                <a:ea typeface="DM Sans"/>
                <a:cs typeface="DM Sans"/>
                <a:sym typeface="DM Sans"/>
              </a:rPr>
              <a:t>Proteins are processed in batches of 8, extracting representations from layer 33 (the final layer).</a:t>
            </a:r>
          </a:p>
          <a:p>
            <a:pPr algn="l">
              <a:lnSpc>
                <a:spcPts val="3578"/>
              </a:lnSpc>
            </a:pPr>
          </a:p>
          <a:p>
            <a:pPr algn="l" marL="572251" indent="-286126" lvl="1">
              <a:lnSpc>
                <a:spcPts val="3578"/>
              </a:lnSpc>
              <a:buFont typeface="Arial"/>
              <a:buChar char="•"/>
            </a:pPr>
            <a:r>
              <a:rPr lang="en-US" sz="2650" spc="159">
                <a:solidFill>
                  <a:srgbClr val="000000"/>
                </a:solidFill>
                <a:latin typeface="DM Sans"/>
                <a:ea typeface="DM Sans"/>
                <a:cs typeface="DM Sans"/>
                <a:sym typeface="DM Sans"/>
              </a:rPr>
              <a:t>For each protein, it generates a compact global embedding via mean pooling; 1280-dimensional.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028700" y="630754"/>
            <a:ext cx="5038071" cy="2781908"/>
            <a:chOff x="0" y="0"/>
            <a:chExt cx="1048738" cy="579089"/>
          </a:xfrm>
        </p:grpSpPr>
        <p:sp>
          <p:nvSpPr>
            <p:cNvPr name="Freeform 3" id="3"/>
            <p:cNvSpPr/>
            <p:nvPr/>
          </p:nvSpPr>
          <p:spPr>
            <a:xfrm flipH="false" flipV="false" rot="0">
              <a:off x="0" y="0"/>
              <a:ext cx="1048738" cy="579089"/>
            </a:xfrm>
            <a:custGeom>
              <a:avLst/>
              <a:gdLst/>
              <a:ahLst/>
              <a:cxnLst/>
              <a:rect r="r" b="b" t="t" l="l"/>
              <a:pathLst>
                <a:path h="579089" w="1048738">
                  <a:moveTo>
                    <a:pt x="52247" y="0"/>
                  </a:moveTo>
                  <a:lnTo>
                    <a:pt x="996490" y="0"/>
                  </a:lnTo>
                  <a:cubicBezTo>
                    <a:pt x="1010347" y="0"/>
                    <a:pt x="1023636" y="5505"/>
                    <a:pt x="1033435" y="15303"/>
                  </a:cubicBezTo>
                  <a:cubicBezTo>
                    <a:pt x="1043233" y="25101"/>
                    <a:pt x="1048738" y="38390"/>
                    <a:pt x="1048738" y="52247"/>
                  </a:cubicBezTo>
                  <a:lnTo>
                    <a:pt x="1048738" y="526842"/>
                  </a:lnTo>
                  <a:cubicBezTo>
                    <a:pt x="1048738" y="540699"/>
                    <a:pt x="1043233" y="553988"/>
                    <a:pt x="1033435" y="563786"/>
                  </a:cubicBezTo>
                  <a:cubicBezTo>
                    <a:pt x="1023636" y="573584"/>
                    <a:pt x="1010347" y="579089"/>
                    <a:pt x="996490" y="579089"/>
                  </a:cubicBezTo>
                  <a:lnTo>
                    <a:pt x="52247" y="579089"/>
                  </a:lnTo>
                  <a:cubicBezTo>
                    <a:pt x="23392" y="579089"/>
                    <a:pt x="0" y="555697"/>
                    <a:pt x="0" y="526842"/>
                  </a:cubicBezTo>
                  <a:lnTo>
                    <a:pt x="0" y="52247"/>
                  </a:lnTo>
                  <a:cubicBezTo>
                    <a:pt x="0" y="23392"/>
                    <a:pt x="23392" y="0"/>
                    <a:pt x="52247" y="0"/>
                  </a:cubicBezTo>
                  <a:close/>
                </a:path>
              </a:pathLst>
            </a:custGeom>
            <a:solidFill>
              <a:srgbClr val="8AB7E2"/>
            </a:solidFill>
            <a:ln w="19050" cap="rnd">
              <a:solidFill>
                <a:srgbClr val="000000"/>
              </a:solidFill>
              <a:prstDash val="solid"/>
              <a:round/>
            </a:ln>
          </p:spPr>
        </p:sp>
        <p:sp>
          <p:nvSpPr>
            <p:cNvPr name="TextBox 4" id="4"/>
            <p:cNvSpPr txBox="true"/>
            <p:nvPr/>
          </p:nvSpPr>
          <p:spPr>
            <a:xfrm>
              <a:off x="0" y="-38100"/>
              <a:ext cx="1048738" cy="6171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4012737"/>
            <a:ext cx="5038071" cy="4917186"/>
            <a:chOff x="0" y="0"/>
            <a:chExt cx="1048738" cy="1023574"/>
          </a:xfrm>
        </p:grpSpPr>
        <p:sp>
          <p:nvSpPr>
            <p:cNvPr name="Freeform 6" id="6"/>
            <p:cNvSpPr/>
            <p:nvPr/>
          </p:nvSpPr>
          <p:spPr>
            <a:xfrm flipH="false" flipV="false" rot="0">
              <a:off x="0" y="0"/>
              <a:ext cx="1048738" cy="1023574"/>
            </a:xfrm>
            <a:custGeom>
              <a:avLst/>
              <a:gdLst/>
              <a:ahLst/>
              <a:cxnLst/>
              <a:rect r="r" b="b" t="t" l="l"/>
              <a:pathLst>
                <a:path h="1023574" w="1048738">
                  <a:moveTo>
                    <a:pt x="52247" y="0"/>
                  </a:moveTo>
                  <a:lnTo>
                    <a:pt x="996490" y="0"/>
                  </a:lnTo>
                  <a:cubicBezTo>
                    <a:pt x="1010347" y="0"/>
                    <a:pt x="1023636" y="5505"/>
                    <a:pt x="1033435" y="15303"/>
                  </a:cubicBezTo>
                  <a:cubicBezTo>
                    <a:pt x="1043233" y="25101"/>
                    <a:pt x="1048738" y="38390"/>
                    <a:pt x="1048738" y="52247"/>
                  </a:cubicBezTo>
                  <a:lnTo>
                    <a:pt x="1048738" y="971327"/>
                  </a:lnTo>
                  <a:cubicBezTo>
                    <a:pt x="1048738" y="1000182"/>
                    <a:pt x="1025346" y="1023574"/>
                    <a:pt x="996490" y="1023574"/>
                  </a:cubicBezTo>
                  <a:lnTo>
                    <a:pt x="52247" y="1023574"/>
                  </a:lnTo>
                  <a:cubicBezTo>
                    <a:pt x="38390" y="1023574"/>
                    <a:pt x="25101" y="1018069"/>
                    <a:pt x="15303" y="1008271"/>
                  </a:cubicBezTo>
                  <a:cubicBezTo>
                    <a:pt x="5505" y="998473"/>
                    <a:pt x="0" y="985183"/>
                    <a:pt x="0" y="971327"/>
                  </a:cubicBezTo>
                  <a:lnTo>
                    <a:pt x="0" y="52247"/>
                  </a:lnTo>
                  <a:cubicBezTo>
                    <a:pt x="0" y="23392"/>
                    <a:pt x="23392" y="0"/>
                    <a:pt x="52247" y="0"/>
                  </a:cubicBezTo>
                  <a:close/>
                </a:path>
              </a:pathLst>
            </a:custGeom>
            <a:solidFill>
              <a:srgbClr val="8AB7E2"/>
            </a:solidFill>
            <a:ln w="19050" cap="rnd">
              <a:solidFill>
                <a:srgbClr val="000000"/>
              </a:solidFill>
              <a:prstDash val="solid"/>
              <a:round/>
            </a:ln>
          </p:spPr>
        </p:sp>
        <p:sp>
          <p:nvSpPr>
            <p:cNvPr name="TextBox 7" id="7"/>
            <p:cNvSpPr txBox="true"/>
            <p:nvPr/>
          </p:nvSpPr>
          <p:spPr>
            <a:xfrm>
              <a:off x="0" y="-38100"/>
              <a:ext cx="1048738" cy="106167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692531" y="630754"/>
            <a:ext cx="5038071" cy="2781908"/>
            <a:chOff x="0" y="0"/>
            <a:chExt cx="1048738" cy="579089"/>
          </a:xfrm>
        </p:grpSpPr>
        <p:sp>
          <p:nvSpPr>
            <p:cNvPr name="Freeform 9" id="9"/>
            <p:cNvSpPr/>
            <p:nvPr/>
          </p:nvSpPr>
          <p:spPr>
            <a:xfrm flipH="false" flipV="false" rot="0">
              <a:off x="0" y="0"/>
              <a:ext cx="1048738" cy="579089"/>
            </a:xfrm>
            <a:custGeom>
              <a:avLst/>
              <a:gdLst/>
              <a:ahLst/>
              <a:cxnLst/>
              <a:rect r="r" b="b" t="t" l="l"/>
              <a:pathLst>
                <a:path h="579089" w="1048738">
                  <a:moveTo>
                    <a:pt x="52247" y="0"/>
                  </a:moveTo>
                  <a:lnTo>
                    <a:pt x="996490" y="0"/>
                  </a:lnTo>
                  <a:cubicBezTo>
                    <a:pt x="1010347" y="0"/>
                    <a:pt x="1023636" y="5505"/>
                    <a:pt x="1033435" y="15303"/>
                  </a:cubicBezTo>
                  <a:cubicBezTo>
                    <a:pt x="1043233" y="25101"/>
                    <a:pt x="1048738" y="38390"/>
                    <a:pt x="1048738" y="52247"/>
                  </a:cubicBezTo>
                  <a:lnTo>
                    <a:pt x="1048738" y="526842"/>
                  </a:lnTo>
                  <a:cubicBezTo>
                    <a:pt x="1048738" y="540699"/>
                    <a:pt x="1043233" y="553988"/>
                    <a:pt x="1033435" y="563786"/>
                  </a:cubicBezTo>
                  <a:cubicBezTo>
                    <a:pt x="1023636" y="573584"/>
                    <a:pt x="1010347" y="579089"/>
                    <a:pt x="996490" y="579089"/>
                  </a:cubicBezTo>
                  <a:lnTo>
                    <a:pt x="52247" y="579089"/>
                  </a:lnTo>
                  <a:cubicBezTo>
                    <a:pt x="23392" y="579089"/>
                    <a:pt x="0" y="555697"/>
                    <a:pt x="0" y="526842"/>
                  </a:cubicBezTo>
                  <a:lnTo>
                    <a:pt x="0" y="52247"/>
                  </a:lnTo>
                  <a:cubicBezTo>
                    <a:pt x="0" y="23392"/>
                    <a:pt x="23392" y="0"/>
                    <a:pt x="52247" y="0"/>
                  </a:cubicBezTo>
                  <a:close/>
                </a:path>
              </a:pathLst>
            </a:custGeom>
            <a:solidFill>
              <a:srgbClr val="8AB7E2"/>
            </a:solidFill>
            <a:ln w="19050" cap="rnd">
              <a:solidFill>
                <a:srgbClr val="000000"/>
              </a:solidFill>
              <a:prstDash val="solid"/>
              <a:round/>
            </a:ln>
          </p:spPr>
        </p:sp>
        <p:sp>
          <p:nvSpPr>
            <p:cNvPr name="TextBox 10" id="10"/>
            <p:cNvSpPr txBox="true"/>
            <p:nvPr/>
          </p:nvSpPr>
          <p:spPr>
            <a:xfrm>
              <a:off x="0" y="-38100"/>
              <a:ext cx="1048738" cy="61718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6692531" y="4012737"/>
            <a:ext cx="5038071" cy="4917186"/>
            <a:chOff x="0" y="0"/>
            <a:chExt cx="1048738" cy="1023574"/>
          </a:xfrm>
        </p:grpSpPr>
        <p:sp>
          <p:nvSpPr>
            <p:cNvPr name="Freeform 12" id="12"/>
            <p:cNvSpPr/>
            <p:nvPr/>
          </p:nvSpPr>
          <p:spPr>
            <a:xfrm flipH="false" flipV="false" rot="0">
              <a:off x="0" y="0"/>
              <a:ext cx="1048738" cy="1023574"/>
            </a:xfrm>
            <a:custGeom>
              <a:avLst/>
              <a:gdLst/>
              <a:ahLst/>
              <a:cxnLst/>
              <a:rect r="r" b="b" t="t" l="l"/>
              <a:pathLst>
                <a:path h="1023574" w="1048738">
                  <a:moveTo>
                    <a:pt x="52247" y="0"/>
                  </a:moveTo>
                  <a:lnTo>
                    <a:pt x="996490" y="0"/>
                  </a:lnTo>
                  <a:cubicBezTo>
                    <a:pt x="1010347" y="0"/>
                    <a:pt x="1023636" y="5505"/>
                    <a:pt x="1033435" y="15303"/>
                  </a:cubicBezTo>
                  <a:cubicBezTo>
                    <a:pt x="1043233" y="25101"/>
                    <a:pt x="1048738" y="38390"/>
                    <a:pt x="1048738" y="52247"/>
                  </a:cubicBezTo>
                  <a:lnTo>
                    <a:pt x="1048738" y="971327"/>
                  </a:lnTo>
                  <a:cubicBezTo>
                    <a:pt x="1048738" y="1000182"/>
                    <a:pt x="1025346" y="1023574"/>
                    <a:pt x="996490" y="1023574"/>
                  </a:cubicBezTo>
                  <a:lnTo>
                    <a:pt x="52247" y="1023574"/>
                  </a:lnTo>
                  <a:cubicBezTo>
                    <a:pt x="38390" y="1023574"/>
                    <a:pt x="25101" y="1018069"/>
                    <a:pt x="15303" y="1008271"/>
                  </a:cubicBezTo>
                  <a:cubicBezTo>
                    <a:pt x="5505" y="998473"/>
                    <a:pt x="0" y="985183"/>
                    <a:pt x="0" y="971327"/>
                  </a:cubicBezTo>
                  <a:lnTo>
                    <a:pt x="0" y="52247"/>
                  </a:lnTo>
                  <a:cubicBezTo>
                    <a:pt x="0" y="23392"/>
                    <a:pt x="23392" y="0"/>
                    <a:pt x="52247" y="0"/>
                  </a:cubicBezTo>
                  <a:close/>
                </a:path>
              </a:pathLst>
            </a:custGeom>
            <a:solidFill>
              <a:srgbClr val="8AB7E2"/>
            </a:solidFill>
            <a:ln w="19050" cap="rnd">
              <a:solidFill>
                <a:srgbClr val="000000"/>
              </a:solidFill>
              <a:prstDash val="solid"/>
              <a:round/>
            </a:ln>
          </p:spPr>
        </p:sp>
        <p:sp>
          <p:nvSpPr>
            <p:cNvPr name="TextBox 13" id="13"/>
            <p:cNvSpPr txBox="true"/>
            <p:nvPr/>
          </p:nvSpPr>
          <p:spPr>
            <a:xfrm>
              <a:off x="0" y="-38100"/>
              <a:ext cx="1048738" cy="1061674"/>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028700" y="630754"/>
            <a:ext cx="5038071" cy="668736"/>
            <a:chOff x="0" y="0"/>
            <a:chExt cx="1048738" cy="139206"/>
          </a:xfrm>
        </p:grpSpPr>
        <p:sp>
          <p:nvSpPr>
            <p:cNvPr name="Freeform 15" id="15"/>
            <p:cNvSpPr/>
            <p:nvPr/>
          </p:nvSpPr>
          <p:spPr>
            <a:xfrm flipH="false" flipV="false" rot="0">
              <a:off x="0" y="0"/>
              <a:ext cx="1048738" cy="139206"/>
            </a:xfrm>
            <a:custGeom>
              <a:avLst/>
              <a:gdLst/>
              <a:ahLst/>
              <a:cxnLst/>
              <a:rect r="r" b="b" t="t" l="l"/>
              <a:pathLst>
                <a:path h="139206" w="1048738">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name="TextBox 16" id="16"/>
            <p:cNvSpPr txBox="true"/>
            <p:nvPr/>
          </p:nvSpPr>
          <p:spPr>
            <a:xfrm>
              <a:off x="0" y="-38100"/>
              <a:ext cx="1048738" cy="177306"/>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28700" y="4012737"/>
            <a:ext cx="5038071" cy="668736"/>
            <a:chOff x="0" y="0"/>
            <a:chExt cx="1048738" cy="139206"/>
          </a:xfrm>
        </p:grpSpPr>
        <p:sp>
          <p:nvSpPr>
            <p:cNvPr name="Freeform 18" id="18"/>
            <p:cNvSpPr/>
            <p:nvPr/>
          </p:nvSpPr>
          <p:spPr>
            <a:xfrm flipH="false" flipV="false" rot="0">
              <a:off x="0" y="0"/>
              <a:ext cx="1048738" cy="139206"/>
            </a:xfrm>
            <a:custGeom>
              <a:avLst/>
              <a:gdLst/>
              <a:ahLst/>
              <a:cxnLst/>
              <a:rect r="r" b="b" t="t" l="l"/>
              <a:pathLst>
                <a:path h="139206" w="1048738">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name="TextBox 19" id="19"/>
            <p:cNvSpPr txBox="true"/>
            <p:nvPr/>
          </p:nvSpPr>
          <p:spPr>
            <a:xfrm>
              <a:off x="0" y="-38100"/>
              <a:ext cx="1048738" cy="177306"/>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6692531" y="593091"/>
            <a:ext cx="5038071" cy="668736"/>
            <a:chOff x="0" y="0"/>
            <a:chExt cx="1048738" cy="139206"/>
          </a:xfrm>
        </p:grpSpPr>
        <p:sp>
          <p:nvSpPr>
            <p:cNvPr name="Freeform 21" id="21"/>
            <p:cNvSpPr/>
            <p:nvPr/>
          </p:nvSpPr>
          <p:spPr>
            <a:xfrm flipH="false" flipV="false" rot="0">
              <a:off x="0" y="0"/>
              <a:ext cx="1048738" cy="139206"/>
            </a:xfrm>
            <a:custGeom>
              <a:avLst/>
              <a:gdLst/>
              <a:ahLst/>
              <a:cxnLst/>
              <a:rect r="r" b="b" t="t" l="l"/>
              <a:pathLst>
                <a:path h="139206" w="1048738">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name="TextBox 22" id="22"/>
            <p:cNvSpPr txBox="true"/>
            <p:nvPr/>
          </p:nvSpPr>
          <p:spPr>
            <a:xfrm>
              <a:off x="0" y="-38100"/>
              <a:ext cx="1048738" cy="177306"/>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6692531" y="4012737"/>
            <a:ext cx="5038071" cy="668736"/>
            <a:chOff x="0" y="0"/>
            <a:chExt cx="1048738" cy="139206"/>
          </a:xfrm>
        </p:grpSpPr>
        <p:sp>
          <p:nvSpPr>
            <p:cNvPr name="Freeform 24" id="24"/>
            <p:cNvSpPr/>
            <p:nvPr/>
          </p:nvSpPr>
          <p:spPr>
            <a:xfrm flipH="false" flipV="false" rot="0">
              <a:off x="0" y="0"/>
              <a:ext cx="1048738" cy="139206"/>
            </a:xfrm>
            <a:custGeom>
              <a:avLst/>
              <a:gdLst/>
              <a:ahLst/>
              <a:cxnLst/>
              <a:rect r="r" b="b" t="t" l="l"/>
              <a:pathLst>
                <a:path h="139206" w="1048738">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name="TextBox 25" id="25"/>
            <p:cNvSpPr txBox="true"/>
            <p:nvPr/>
          </p:nvSpPr>
          <p:spPr>
            <a:xfrm>
              <a:off x="0" y="-38100"/>
              <a:ext cx="1048738" cy="177306"/>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478760" y="813422"/>
            <a:ext cx="4137951" cy="312925"/>
          </a:xfrm>
          <a:prstGeom prst="rect">
            <a:avLst/>
          </a:prstGeom>
        </p:spPr>
        <p:txBody>
          <a:bodyPr anchor="t" rtlCol="false" tIns="0" lIns="0" bIns="0" rIns="0">
            <a:spAutoFit/>
          </a:bodyPr>
          <a:lstStyle/>
          <a:p>
            <a:pPr algn="ctr" marL="460439" indent="-230219" lvl="1">
              <a:lnSpc>
                <a:spcPts val="2495"/>
              </a:lnSpc>
              <a:buAutoNum type="arabicPeriod" startAt="1"/>
            </a:pPr>
            <a:r>
              <a:rPr lang="en-US" sz="2132">
                <a:solidFill>
                  <a:srgbClr val="000000"/>
                </a:solidFill>
                <a:latin typeface="DM Sans"/>
                <a:ea typeface="DM Sans"/>
                <a:cs typeface="DM Sans"/>
                <a:sym typeface="DM Sans"/>
              </a:rPr>
              <a:t>Protein Encoding</a:t>
            </a:r>
          </a:p>
        </p:txBody>
      </p:sp>
      <p:sp>
        <p:nvSpPr>
          <p:cNvPr name="TextBox 27" id="27"/>
          <p:cNvSpPr txBox="true"/>
          <p:nvPr/>
        </p:nvSpPr>
        <p:spPr>
          <a:xfrm rot="0">
            <a:off x="7142591" y="813422"/>
            <a:ext cx="4137951" cy="312925"/>
          </a:xfrm>
          <a:prstGeom prst="rect">
            <a:avLst/>
          </a:prstGeom>
        </p:spPr>
        <p:txBody>
          <a:bodyPr anchor="t" rtlCol="false" tIns="0" lIns="0" bIns="0" rIns="0">
            <a:spAutoFit/>
          </a:bodyPr>
          <a:lstStyle/>
          <a:p>
            <a:pPr algn="ctr" marL="460439" indent="-230219" lvl="1">
              <a:lnSpc>
                <a:spcPts val="2495"/>
              </a:lnSpc>
              <a:buAutoNum type="arabicPeriod" startAt="1"/>
            </a:pPr>
            <a:r>
              <a:rPr lang="en-US" sz="2132">
                <a:solidFill>
                  <a:srgbClr val="000000"/>
                </a:solidFill>
                <a:latin typeface="DM Sans"/>
                <a:ea typeface="DM Sans"/>
                <a:cs typeface="DM Sans"/>
                <a:sym typeface="DM Sans"/>
              </a:rPr>
              <a:t>Projection to LLM Space</a:t>
            </a:r>
          </a:p>
        </p:txBody>
      </p:sp>
      <p:sp>
        <p:nvSpPr>
          <p:cNvPr name="Freeform 28" id="28"/>
          <p:cNvSpPr/>
          <p:nvPr/>
        </p:nvSpPr>
        <p:spPr>
          <a:xfrm flipH="false" flipV="false" rot="-10800000">
            <a:off x="14827993" y="-1392447"/>
            <a:ext cx="4017146" cy="3158481"/>
          </a:xfrm>
          <a:custGeom>
            <a:avLst/>
            <a:gdLst/>
            <a:ahLst/>
            <a:cxnLst/>
            <a:rect r="r" b="b" t="t" l="l"/>
            <a:pathLst>
              <a:path h="3158481" w="4017146">
                <a:moveTo>
                  <a:pt x="0" y="0"/>
                </a:moveTo>
                <a:lnTo>
                  <a:pt x="4017147" y="0"/>
                </a:lnTo>
                <a:lnTo>
                  <a:pt x="4017147" y="3158481"/>
                </a:lnTo>
                <a:lnTo>
                  <a:pt x="0" y="3158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9" id="29"/>
          <p:cNvSpPr/>
          <p:nvPr/>
        </p:nvSpPr>
        <p:spPr>
          <a:xfrm flipH="false" flipV="false" rot="0">
            <a:off x="4580296" y="-1616873"/>
            <a:ext cx="4224468" cy="2645573"/>
          </a:xfrm>
          <a:custGeom>
            <a:avLst/>
            <a:gdLst/>
            <a:ahLst/>
            <a:cxnLst/>
            <a:rect r="r" b="b" t="t" l="l"/>
            <a:pathLst>
              <a:path h="2645573" w="4224468">
                <a:moveTo>
                  <a:pt x="0" y="0"/>
                </a:moveTo>
                <a:lnTo>
                  <a:pt x="4224469" y="0"/>
                </a:lnTo>
                <a:lnTo>
                  <a:pt x="4224469" y="2645573"/>
                </a:lnTo>
                <a:lnTo>
                  <a:pt x="0" y="2645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30" id="30"/>
          <p:cNvSpPr/>
          <p:nvPr/>
        </p:nvSpPr>
        <p:spPr>
          <a:xfrm flipH="false" flipV="false" rot="0">
            <a:off x="8285780"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31" id="31"/>
          <p:cNvSpPr/>
          <p:nvPr/>
        </p:nvSpPr>
        <p:spPr>
          <a:xfrm flipH="false" flipV="false" rot="-5400000">
            <a:off x="12134412" y="924503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32" id="32"/>
          <p:cNvSpPr/>
          <p:nvPr/>
        </p:nvSpPr>
        <p:spPr>
          <a:xfrm flipH="false" flipV="false" rot="0">
            <a:off x="-1558320"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33" id="33"/>
          <p:cNvSpPr/>
          <p:nvPr/>
        </p:nvSpPr>
        <p:spPr>
          <a:xfrm flipH="false" flipV="false" rot="0">
            <a:off x="17259300" y="7433853"/>
            <a:ext cx="1794966" cy="1932669"/>
          </a:xfrm>
          <a:custGeom>
            <a:avLst/>
            <a:gdLst/>
            <a:ahLst/>
            <a:cxnLst/>
            <a:rect r="r" b="b" t="t" l="l"/>
            <a:pathLst>
              <a:path h="1932669" w="1794966">
                <a:moveTo>
                  <a:pt x="0" y="0"/>
                </a:moveTo>
                <a:lnTo>
                  <a:pt x="1794966" y="0"/>
                </a:lnTo>
                <a:lnTo>
                  <a:pt x="1794966" y="1932669"/>
                </a:lnTo>
                <a:lnTo>
                  <a:pt x="0" y="1932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34" id="34"/>
          <p:cNvSpPr/>
          <p:nvPr/>
        </p:nvSpPr>
        <p:spPr>
          <a:xfrm flipH="false" flipV="false" rot="0">
            <a:off x="-744232" y="460501"/>
            <a:ext cx="1488463" cy="1602652"/>
          </a:xfrm>
          <a:custGeom>
            <a:avLst/>
            <a:gdLst/>
            <a:ahLst/>
            <a:cxnLst/>
            <a:rect r="r" b="b" t="t" l="l"/>
            <a:pathLst>
              <a:path h="1602652" w="1488463">
                <a:moveTo>
                  <a:pt x="0" y="0"/>
                </a:moveTo>
                <a:lnTo>
                  <a:pt x="1488464" y="0"/>
                </a:lnTo>
                <a:lnTo>
                  <a:pt x="1488464" y="1602652"/>
                </a:lnTo>
                <a:lnTo>
                  <a:pt x="0" y="16026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35" id="35"/>
          <p:cNvSpPr/>
          <p:nvPr/>
        </p:nvSpPr>
        <p:spPr>
          <a:xfrm flipH="false" flipV="false" rot="0">
            <a:off x="1842292" y="6263047"/>
            <a:ext cx="3774419" cy="1023762"/>
          </a:xfrm>
          <a:custGeom>
            <a:avLst/>
            <a:gdLst/>
            <a:ahLst/>
            <a:cxnLst/>
            <a:rect r="r" b="b" t="t" l="l"/>
            <a:pathLst>
              <a:path h="1023762" w="3774419">
                <a:moveTo>
                  <a:pt x="0" y="0"/>
                </a:moveTo>
                <a:lnTo>
                  <a:pt x="3774419" y="0"/>
                </a:lnTo>
                <a:lnTo>
                  <a:pt x="3774419" y="1023762"/>
                </a:lnTo>
                <a:lnTo>
                  <a:pt x="0" y="1023762"/>
                </a:lnTo>
                <a:lnTo>
                  <a:pt x="0" y="0"/>
                </a:lnTo>
                <a:close/>
              </a:path>
            </a:pathLst>
          </a:custGeom>
          <a:blipFill>
            <a:blip r:embed="rId14"/>
            <a:stretch>
              <a:fillRect l="0" t="0" r="0" b="0"/>
            </a:stretch>
          </a:blipFill>
        </p:spPr>
      </p:sp>
      <p:sp>
        <p:nvSpPr>
          <p:cNvPr name="Freeform 36" id="36"/>
          <p:cNvSpPr/>
          <p:nvPr/>
        </p:nvSpPr>
        <p:spPr>
          <a:xfrm flipH="false" flipV="false" rot="0">
            <a:off x="7659831" y="5672073"/>
            <a:ext cx="2642819" cy="1472604"/>
          </a:xfrm>
          <a:custGeom>
            <a:avLst/>
            <a:gdLst/>
            <a:ahLst/>
            <a:cxnLst/>
            <a:rect r="r" b="b" t="t" l="l"/>
            <a:pathLst>
              <a:path h="1472604" w="2642819">
                <a:moveTo>
                  <a:pt x="0" y="0"/>
                </a:moveTo>
                <a:lnTo>
                  <a:pt x="2642819" y="0"/>
                </a:lnTo>
                <a:lnTo>
                  <a:pt x="2642819" y="1472604"/>
                </a:lnTo>
                <a:lnTo>
                  <a:pt x="0" y="1472604"/>
                </a:lnTo>
                <a:lnTo>
                  <a:pt x="0" y="0"/>
                </a:lnTo>
                <a:close/>
              </a:path>
            </a:pathLst>
          </a:custGeom>
          <a:blipFill>
            <a:blip r:embed="rId15"/>
            <a:stretch>
              <a:fillRect l="-1383" t="0" r="-1383" b="0"/>
            </a:stretch>
          </a:blipFill>
        </p:spPr>
      </p:sp>
      <p:sp>
        <p:nvSpPr>
          <p:cNvPr name="TextBox 37" id="37"/>
          <p:cNvSpPr txBox="true"/>
          <p:nvPr/>
        </p:nvSpPr>
        <p:spPr>
          <a:xfrm rot="0">
            <a:off x="1478760" y="4195405"/>
            <a:ext cx="4137951" cy="312925"/>
          </a:xfrm>
          <a:prstGeom prst="rect">
            <a:avLst/>
          </a:prstGeom>
        </p:spPr>
        <p:txBody>
          <a:bodyPr anchor="t" rtlCol="false" tIns="0" lIns="0" bIns="0" rIns="0">
            <a:spAutoFit/>
          </a:bodyPr>
          <a:lstStyle/>
          <a:p>
            <a:pPr algn="ctr" marL="460439" indent="-230219" lvl="1">
              <a:lnSpc>
                <a:spcPts val="2495"/>
              </a:lnSpc>
              <a:buAutoNum type="arabicPeriod" startAt="1"/>
            </a:pPr>
            <a:r>
              <a:rPr lang="en-US" sz="2132">
                <a:solidFill>
                  <a:srgbClr val="000000"/>
                </a:solidFill>
                <a:latin typeface="DM Sans"/>
                <a:ea typeface="DM Sans"/>
                <a:cs typeface="DM Sans"/>
                <a:sym typeface="DM Sans"/>
              </a:rPr>
              <a:t>Input Construction</a:t>
            </a:r>
          </a:p>
        </p:txBody>
      </p:sp>
      <p:sp>
        <p:nvSpPr>
          <p:cNvPr name="TextBox 38" id="38"/>
          <p:cNvSpPr txBox="true"/>
          <p:nvPr/>
        </p:nvSpPr>
        <p:spPr>
          <a:xfrm rot="0">
            <a:off x="6877678" y="4195405"/>
            <a:ext cx="4667775" cy="312925"/>
          </a:xfrm>
          <a:prstGeom prst="rect">
            <a:avLst/>
          </a:prstGeom>
        </p:spPr>
        <p:txBody>
          <a:bodyPr anchor="t" rtlCol="false" tIns="0" lIns="0" bIns="0" rIns="0">
            <a:spAutoFit/>
          </a:bodyPr>
          <a:lstStyle/>
          <a:p>
            <a:pPr algn="l" marL="460439" indent="-230219" lvl="1">
              <a:lnSpc>
                <a:spcPts val="2495"/>
              </a:lnSpc>
              <a:buAutoNum type="arabicPeriod" startAt="1"/>
            </a:pPr>
            <a:r>
              <a:rPr lang="en-US" sz="2132">
                <a:solidFill>
                  <a:srgbClr val="000000"/>
                </a:solidFill>
                <a:latin typeface="DM Sans"/>
                <a:ea typeface="DM Sans"/>
                <a:cs typeface="DM Sans"/>
                <a:sym typeface="DM Sans"/>
              </a:rPr>
              <a:t>Generation &amp; Loss Computation</a:t>
            </a:r>
          </a:p>
        </p:txBody>
      </p:sp>
      <p:sp>
        <p:nvSpPr>
          <p:cNvPr name="TextBox 39" id="39"/>
          <p:cNvSpPr txBox="true"/>
          <p:nvPr/>
        </p:nvSpPr>
        <p:spPr>
          <a:xfrm rot="0">
            <a:off x="1478760" y="1596952"/>
            <a:ext cx="4137951" cy="1598295"/>
          </a:xfrm>
          <a:prstGeom prst="rect">
            <a:avLst/>
          </a:prstGeom>
        </p:spPr>
        <p:txBody>
          <a:bodyPr anchor="t" rtlCol="false" tIns="0" lIns="0" bIns="0" rIns="0">
            <a:spAutoFit/>
          </a:bodyPr>
          <a:lstStyle/>
          <a:p>
            <a:pPr algn="l" marL="345441" indent="-172721" lvl="1">
              <a:lnSpc>
                <a:spcPts val="2160"/>
              </a:lnSpc>
              <a:buFont typeface="Arial"/>
              <a:buChar char="•"/>
            </a:pPr>
            <a:r>
              <a:rPr lang="en-US" sz="1600" spc="96">
                <a:solidFill>
                  <a:srgbClr val="000000"/>
                </a:solidFill>
                <a:latin typeface="DM Sans"/>
                <a:ea typeface="DM Sans"/>
                <a:cs typeface="DM Sans"/>
                <a:sym typeface="DM Sans"/>
              </a:rPr>
              <a:t>S</a:t>
            </a:r>
            <a:r>
              <a:rPr lang="en-US" sz="1600" spc="96" u="none">
                <a:solidFill>
                  <a:srgbClr val="000000"/>
                </a:solidFill>
                <a:latin typeface="DM Sans"/>
                <a:ea typeface="DM Sans"/>
                <a:cs typeface="DM Sans"/>
                <a:sym typeface="DM Sans"/>
              </a:rPr>
              <a:t>equence → ESM-2 → global embedding (1280-dim)</a:t>
            </a:r>
          </a:p>
          <a:p>
            <a:pPr algn="l" marL="345441" indent="-172721" lvl="1">
              <a:lnSpc>
                <a:spcPts val="2160"/>
              </a:lnSpc>
              <a:buFont typeface="Arial"/>
              <a:buChar char="•"/>
            </a:pPr>
            <a:r>
              <a:rPr lang="en-US" sz="1600" spc="96" u="none">
                <a:solidFill>
                  <a:srgbClr val="000000"/>
                </a:solidFill>
                <a:latin typeface="DM Sans"/>
                <a:ea typeface="DM Sans"/>
                <a:cs typeface="DM Sans"/>
                <a:sym typeface="DM Sans"/>
              </a:rPr>
              <a:t>Mean pooling across residue embeddings</a:t>
            </a:r>
          </a:p>
          <a:p>
            <a:pPr algn="l" marL="345441" indent="-172721" lvl="1">
              <a:lnSpc>
                <a:spcPts val="2160"/>
              </a:lnSpc>
              <a:buFont typeface="Arial"/>
              <a:buChar char="•"/>
            </a:pPr>
            <a:r>
              <a:rPr lang="en-US" sz="1600" spc="96" u="none">
                <a:solidFill>
                  <a:srgbClr val="000000"/>
                </a:solidFill>
                <a:latin typeface="DM Sans"/>
                <a:ea typeface="DM Sans"/>
                <a:cs typeface="DM Sans"/>
                <a:sym typeface="DM Sans"/>
              </a:rPr>
              <a:t>Frozen encoder preserves pretrained knowledge</a:t>
            </a:r>
          </a:p>
        </p:txBody>
      </p:sp>
      <p:sp>
        <p:nvSpPr>
          <p:cNvPr name="TextBox 40" id="40"/>
          <p:cNvSpPr txBox="true"/>
          <p:nvPr/>
        </p:nvSpPr>
        <p:spPr>
          <a:xfrm rot="0">
            <a:off x="7142591" y="1421239"/>
            <a:ext cx="4137951" cy="1598295"/>
          </a:xfrm>
          <a:prstGeom prst="rect">
            <a:avLst/>
          </a:prstGeom>
        </p:spPr>
        <p:txBody>
          <a:bodyPr anchor="t" rtlCol="false" tIns="0" lIns="0" bIns="0" rIns="0">
            <a:spAutoFit/>
          </a:bodyPr>
          <a:lstStyle/>
          <a:p>
            <a:pPr algn="l" marL="345441" indent="-172721" lvl="1">
              <a:lnSpc>
                <a:spcPts val="2160"/>
              </a:lnSpc>
              <a:buFont typeface="Arial"/>
              <a:buChar char="•"/>
            </a:pPr>
            <a:r>
              <a:rPr lang="en-US" sz="1600" spc="96" u="none">
                <a:solidFill>
                  <a:srgbClr val="000000"/>
                </a:solidFill>
                <a:latin typeface="DM Sans"/>
                <a:ea typeface="DM Sans"/>
                <a:cs typeface="DM Sans"/>
                <a:sym typeface="DM Sans"/>
              </a:rPr>
              <a:t>Embedding → Projection MLP → prefix token (2560-dim)</a:t>
            </a:r>
          </a:p>
          <a:p>
            <a:pPr algn="l" marL="345441" indent="-172721" lvl="1">
              <a:lnSpc>
                <a:spcPts val="2160"/>
              </a:lnSpc>
              <a:buFont typeface="Arial"/>
              <a:buChar char="•"/>
            </a:pPr>
            <a:r>
              <a:rPr lang="en-US" sz="1600" spc="96" u="none">
                <a:solidFill>
                  <a:srgbClr val="000000"/>
                </a:solidFill>
                <a:latin typeface="DM Sans"/>
                <a:ea typeface="DM Sans"/>
                <a:cs typeface="DM Sans"/>
                <a:sym typeface="DM Sans"/>
              </a:rPr>
              <a:t>Two-layer MLP with GELU activation</a:t>
            </a:r>
          </a:p>
          <a:p>
            <a:pPr algn="l" marL="345441" indent="-172721" lvl="1">
              <a:lnSpc>
                <a:spcPts val="2160"/>
              </a:lnSpc>
              <a:buFont typeface="Arial"/>
              <a:buChar char="•"/>
            </a:pPr>
            <a:r>
              <a:rPr lang="en-US" sz="1600" spc="96" u="none">
                <a:solidFill>
                  <a:srgbClr val="000000"/>
                </a:solidFill>
                <a:latin typeface="DM Sans"/>
                <a:ea typeface="DM Sans"/>
                <a:cs typeface="DM Sans"/>
                <a:sym typeface="DM Sans"/>
              </a:rPr>
              <a:t>Aligns protein and text modalities</a:t>
            </a:r>
          </a:p>
          <a:p>
            <a:pPr algn="l" marL="0" indent="0" lvl="0">
              <a:lnSpc>
                <a:spcPts val="2160"/>
              </a:lnSpc>
              <a:spcBef>
                <a:spcPct val="0"/>
              </a:spcBef>
            </a:pPr>
          </a:p>
        </p:txBody>
      </p:sp>
      <p:sp>
        <p:nvSpPr>
          <p:cNvPr name="TextBox 41" id="41"/>
          <p:cNvSpPr txBox="true"/>
          <p:nvPr/>
        </p:nvSpPr>
        <p:spPr>
          <a:xfrm rot="0">
            <a:off x="7142591" y="4986273"/>
            <a:ext cx="4392233" cy="835964"/>
          </a:xfrm>
          <a:prstGeom prst="rect">
            <a:avLst/>
          </a:prstGeom>
        </p:spPr>
        <p:txBody>
          <a:bodyPr anchor="t" rtlCol="false" tIns="0" lIns="0" bIns="0" rIns="0">
            <a:spAutoFit/>
          </a:bodyPr>
          <a:lstStyle/>
          <a:p>
            <a:pPr algn="l" marL="366669" indent="-183334" lvl="1">
              <a:lnSpc>
                <a:spcPts val="2292"/>
              </a:lnSpc>
              <a:buFont typeface="Arial"/>
              <a:buChar char="•"/>
            </a:pPr>
            <a:r>
              <a:rPr lang="en-US" sz="1698" spc="101">
                <a:solidFill>
                  <a:srgbClr val="000000"/>
                </a:solidFill>
                <a:latin typeface="DM Sans"/>
                <a:ea typeface="DM Sans"/>
                <a:cs typeface="DM Sans"/>
                <a:sym typeface="DM Sans"/>
              </a:rPr>
              <a:t>Phi-2 pr</a:t>
            </a:r>
            <a:r>
              <a:rPr lang="en-US" sz="1698" spc="101" u="none">
                <a:solidFill>
                  <a:srgbClr val="000000"/>
                </a:solidFill>
                <a:latin typeface="DM Sans"/>
                <a:ea typeface="DM Sans"/>
                <a:cs typeface="DM Sans"/>
                <a:sym typeface="DM Sans"/>
              </a:rPr>
              <a:t>ocesses combined sequence</a:t>
            </a:r>
          </a:p>
          <a:p>
            <a:pPr algn="l" marL="0" indent="0" lvl="0">
              <a:lnSpc>
                <a:spcPts val="2292"/>
              </a:lnSpc>
              <a:spcBef>
                <a:spcPct val="0"/>
              </a:spcBef>
            </a:pPr>
          </a:p>
        </p:txBody>
      </p:sp>
      <p:sp>
        <p:nvSpPr>
          <p:cNvPr name="TextBox 42" id="42"/>
          <p:cNvSpPr txBox="true"/>
          <p:nvPr/>
        </p:nvSpPr>
        <p:spPr>
          <a:xfrm rot="0">
            <a:off x="1478760" y="4976748"/>
            <a:ext cx="4416183" cy="1424796"/>
          </a:xfrm>
          <a:prstGeom prst="rect">
            <a:avLst/>
          </a:prstGeom>
        </p:spPr>
        <p:txBody>
          <a:bodyPr anchor="t" rtlCol="false" tIns="0" lIns="0" bIns="0" rIns="0">
            <a:spAutoFit/>
          </a:bodyPr>
          <a:lstStyle/>
          <a:p>
            <a:pPr algn="l" marL="368668" indent="-184334" lvl="1">
              <a:lnSpc>
                <a:spcPts val="2305"/>
              </a:lnSpc>
              <a:buFont typeface="Arial"/>
              <a:buChar char="•"/>
            </a:pPr>
            <a:r>
              <a:rPr lang="en-US" sz="1707" spc="102">
                <a:solidFill>
                  <a:srgbClr val="000000"/>
                </a:solidFill>
                <a:latin typeface="DM Sans"/>
                <a:ea typeface="DM Sans"/>
                <a:cs typeface="DM Sans"/>
                <a:sym typeface="DM Sans"/>
              </a:rPr>
              <a:t>C</a:t>
            </a:r>
            <a:r>
              <a:rPr lang="en-US" sz="1707" spc="102" u="none">
                <a:solidFill>
                  <a:srgbClr val="000000"/>
                </a:solidFill>
                <a:latin typeface="DM Sans"/>
                <a:ea typeface="DM Sans"/>
                <a:cs typeface="DM Sans"/>
                <a:sym typeface="DM Sans"/>
              </a:rPr>
              <a:t>oncatenate [prefix_token | text_token_embeddings]</a:t>
            </a:r>
          </a:p>
          <a:p>
            <a:pPr algn="l" marL="368668" indent="-184334" lvl="1">
              <a:lnSpc>
                <a:spcPts val="2305"/>
              </a:lnSpc>
              <a:buFont typeface="Arial"/>
              <a:buChar char="•"/>
            </a:pPr>
            <a:r>
              <a:rPr lang="en-US" sz="1707" spc="102" u="none">
                <a:solidFill>
                  <a:srgbClr val="000000"/>
                </a:solidFill>
                <a:latin typeface="DM Sans"/>
                <a:ea typeface="DM Sans"/>
                <a:cs typeface="DM Sans"/>
                <a:sym typeface="DM Sans"/>
              </a:rPr>
              <a:t>Text tokens from prompt: [PROTEIN] LENGTH: ... FUNCTION:</a:t>
            </a:r>
          </a:p>
          <a:p>
            <a:pPr algn="l" marL="0" indent="0" lvl="0">
              <a:lnSpc>
                <a:spcPts val="2305"/>
              </a:lnSpc>
              <a:spcBef>
                <a:spcPct val="0"/>
              </a:spcBef>
            </a:pPr>
          </a:p>
        </p:txBody>
      </p:sp>
      <p:sp>
        <p:nvSpPr>
          <p:cNvPr name="TextBox 43" id="43"/>
          <p:cNvSpPr txBox="true"/>
          <p:nvPr/>
        </p:nvSpPr>
        <p:spPr>
          <a:xfrm rot="0">
            <a:off x="12150789" y="3219559"/>
            <a:ext cx="6137211" cy="3403092"/>
          </a:xfrm>
          <a:prstGeom prst="rect">
            <a:avLst/>
          </a:prstGeom>
        </p:spPr>
        <p:txBody>
          <a:bodyPr anchor="t" rtlCol="false" tIns="0" lIns="0" bIns="0" rIns="0">
            <a:spAutoFit/>
          </a:bodyPr>
          <a:lstStyle/>
          <a:p>
            <a:pPr algn="ctr">
              <a:lnSpc>
                <a:spcPts val="8807"/>
              </a:lnSpc>
            </a:pPr>
            <a:r>
              <a:rPr lang="en-US" sz="9079" b="true">
                <a:solidFill>
                  <a:srgbClr val="000000"/>
                </a:solidFill>
                <a:latin typeface="DM Sans Bold"/>
                <a:ea typeface="DM Sans Bold"/>
                <a:cs typeface="DM Sans Bold"/>
                <a:sym typeface="DM Sans Bold"/>
              </a:rPr>
              <a:t>Forward</a:t>
            </a:r>
          </a:p>
          <a:p>
            <a:pPr algn="ctr">
              <a:lnSpc>
                <a:spcPts val="8807"/>
              </a:lnSpc>
            </a:pPr>
            <a:r>
              <a:rPr lang="en-US" sz="9079" b="true">
                <a:solidFill>
                  <a:srgbClr val="000000"/>
                </a:solidFill>
                <a:latin typeface="DM Sans Bold"/>
                <a:ea typeface="DM Sans Bold"/>
                <a:cs typeface="DM Sans Bold"/>
                <a:sym typeface="DM Sans Bold"/>
              </a:rPr>
              <a:t>Pass</a:t>
            </a:r>
          </a:p>
          <a:p>
            <a:pPr algn="ctr">
              <a:lnSpc>
                <a:spcPts val="8807"/>
              </a:lnSpc>
            </a:pPr>
            <a:r>
              <a:rPr lang="en-US" b="true" sz="9079">
                <a:solidFill>
                  <a:srgbClr val="000000"/>
                </a:solidFill>
                <a:latin typeface="DM Sans Bold"/>
                <a:ea typeface="DM Sans Bold"/>
                <a:cs typeface="DM Sans Bold"/>
                <a:sym typeface="DM Sans Bold"/>
              </a:rPr>
              <a:t>Details</a:t>
            </a:r>
          </a:p>
        </p:txBody>
      </p:sp>
      <p:sp>
        <p:nvSpPr>
          <p:cNvPr name="TextBox 44" id="44"/>
          <p:cNvSpPr txBox="true"/>
          <p:nvPr/>
        </p:nvSpPr>
        <p:spPr>
          <a:xfrm rot="0">
            <a:off x="1478760" y="7482672"/>
            <a:ext cx="4137951" cy="1654810"/>
          </a:xfrm>
          <a:prstGeom prst="rect">
            <a:avLst/>
          </a:prstGeom>
        </p:spPr>
        <p:txBody>
          <a:bodyPr anchor="t" rtlCol="false" tIns="0" lIns="0" bIns="0" rIns="0">
            <a:spAutoFit/>
          </a:bodyPr>
          <a:lstStyle/>
          <a:p>
            <a:pPr algn="l" marL="345441" indent="-172721" lvl="1">
              <a:lnSpc>
                <a:spcPts val="2240"/>
              </a:lnSpc>
              <a:spcBef>
                <a:spcPct val="0"/>
              </a:spcBef>
              <a:buFont typeface="Arial"/>
              <a:buChar char="•"/>
            </a:pPr>
            <a:r>
              <a:rPr lang="en-US" sz="1600">
                <a:solidFill>
                  <a:srgbClr val="000000"/>
                </a:solidFill>
                <a:latin typeface="DM Sans"/>
                <a:ea typeface="DM Sans"/>
                <a:cs typeface="DM Sans"/>
                <a:sym typeface="DM Sans"/>
              </a:rPr>
              <a:t>Attenti</a:t>
            </a:r>
            <a:r>
              <a:rPr lang="en-US" sz="1600">
                <a:solidFill>
                  <a:srgbClr val="000000"/>
                </a:solidFill>
                <a:latin typeface="DM Sans"/>
                <a:ea typeface="DM Sans"/>
                <a:cs typeface="DM Sans"/>
                <a:sym typeface="DM Sans"/>
              </a:rPr>
              <a:t>on mask extension: The prefix token always gets attention (mask=1), while padding tokens get mask=0. </a:t>
            </a:r>
          </a:p>
          <a:p>
            <a:pPr algn="l" marL="345441" indent="-172721" lvl="1">
              <a:lnSpc>
                <a:spcPts val="2240"/>
              </a:lnSpc>
              <a:spcBef>
                <a:spcPct val="0"/>
              </a:spcBef>
              <a:buFont typeface="Arial"/>
              <a:buChar char="•"/>
            </a:pPr>
            <a:r>
              <a:rPr lang="en-US" sz="1600">
                <a:solidFill>
                  <a:srgbClr val="000000"/>
                </a:solidFill>
                <a:latin typeface="DM Sans"/>
                <a:ea typeface="DM Sans"/>
                <a:cs typeface="DM Sans"/>
                <a:sym typeface="DM Sans"/>
              </a:rPr>
              <a:t>Labels: ignore prefix (-100), predict function tokens</a:t>
            </a:r>
          </a:p>
          <a:p>
            <a:pPr algn="l">
              <a:lnSpc>
                <a:spcPts val="2240"/>
              </a:lnSpc>
              <a:spcBef>
                <a:spcPct val="0"/>
              </a:spcBef>
            </a:pPr>
          </a:p>
        </p:txBody>
      </p:sp>
      <p:sp>
        <p:nvSpPr>
          <p:cNvPr name="TextBox 45" id="45"/>
          <p:cNvSpPr txBox="true"/>
          <p:nvPr/>
        </p:nvSpPr>
        <p:spPr>
          <a:xfrm rot="0">
            <a:off x="7142591" y="7248709"/>
            <a:ext cx="4312469" cy="1931035"/>
          </a:xfrm>
          <a:prstGeom prst="rect">
            <a:avLst/>
          </a:prstGeom>
        </p:spPr>
        <p:txBody>
          <a:bodyPr anchor="t" rtlCol="false" tIns="0" lIns="0" bIns="0" rIns="0">
            <a:spAutoFit/>
          </a:bodyPr>
          <a:lstStyle/>
          <a:p>
            <a:pPr algn="l" marL="345441" indent="-172721" lvl="1">
              <a:lnSpc>
                <a:spcPts val="2240"/>
              </a:lnSpc>
              <a:spcBef>
                <a:spcPct val="0"/>
              </a:spcBef>
              <a:buFont typeface="Arial"/>
              <a:buChar char="•"/>
            </a:pPr>
            <a:r>
              <a:rPr lang="en-US" sz="1600">
                <a:solidFill>
                  <a:srgbClr val="000000"/>
                </a:solidFill>
                <a:latin typeface="DM Sans"/>
                <a:ea typeface="DM Sans"/>
                <a:cs typeface="DM Sans"/>
                <a:sym typeface="DM Sans"/>
              </a:rPr>
              <a:t>Ext</a:t>
            </a:r>
            <a:r>
              <a:rPr lang="en-US" sz="1600">
                <a:solidFill>
                  <a:srgbClr val="000000"/>
                </a:solidFill>
                <a:latin typeface="DM Sans"/>
                <a:ea typeface="DM Sans"/>
                <a:cs typeface="DM Sans"/>
                <a:sym typeface="DM Sans"/>
              </a:rPr>
              <a:t>ract text representation from last hidden layer</a:t>
            </a:r>
          </a:p>
          <a:p>
            <a:pPr algn="l" marL="345441" indent="-172721" lvl="1">
              <a:lnSpc>
                <a:spcPts val="2240"/>
              </a:lnSpc>
              <a:spcBef>
                <a:spcPct val="0"/>
              </a:spcBef>
              <a:buFont typeface="Arial"/>
              <a:buChar char="•"/>
            </a:pPr>
            <a:r>
              <a:rPr lang="en-US" sz="1600">
                <a:solidFill>
                  <a:srgbClr val="000000"/>
                </a:solidFill>
                <a:latin typeface="DM Sans"/>
                <a:ea typeface="DM Sans"/>
                <a:cs typeface="DM Sans"/>
                <a:sym typeface="DM Sans"/>
              </a:rPr>
              <a:t>Normalize protein and text representations</a:t>
            </a:r>
          </a:p>
          <a:p>
            <a:pPr algn="l" marL="345441" indent="-172721" lvl="1">
              <a:lnSpc>
                <a:spcPts val="2240"/>
              </a:lnSpc>
              <a:spcBef>
                <a:spcPct val="0"/>
              </a:spcBef>
              <a:buFont typeface="Arial"/>
              <a:buChar char="•"/>
            </a:pPr>
            <a:r>
              <a:rPr lang="en-US" sz="1600">
                <a:solidFill>
                  <a:srgbClr val="000000"/>
                </a:solidFill>
                <a:latin typeface="DM Sans"/>
                <a:ea typeface="DM Sans"/>
                <a:cs typeface="DM Sans"/>
                <a:sym typeface="DM Sans"/>
              </a:rPr>
              <a:t>Compute all three loss components (LM + Alignment + Contrastive)</a:t>
            </a:r>
          </a:p>
          <a:p>
            <a:pPr algn="l">
              <a:lnSpc>
                <a:spcPts val="224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5282649">
            <a:off x="1646" y="3852356"/>
            <a:ext cx="7567145" cy="2582288"/>
          </a:xfrm>
          <a:custGeom>
            <a:avLst/>
            <a:gdLst/>
            <a:ahLst/>
            <a:cxnLst/>
            <a:rect r="r" b="b" t="t" l="l"/>
            <a:pathLst>
              <a:path h="2582288" w="7567145">
                <a:moveTo>
                  <a:pt x="0" y="0"/>
                </a:moveTo>
                <a:lnTo>
                  <a:pt x="7567145" y="0"/>
                </a:lnTo>
                <a:lnTo>
                  <a:pt x="7567145" y="2582288"/>
                </a:lnTo>
                <a:lnTo>
                  <a:pt x="0" y="25822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28700" y="2037564"/>
            <a:ext cx="5513037" cy="6211873"/>
          </a:xfrm>
          <a:custGeom>
            <a:avLst/>
            <a:gdLst/>
            <a:ahLst/>
            <a:cxnLst/>
            <a:rect r="r" b="b" t="t" l="l"/>
            <a:pathLst>
              <a:path h="6211873" w="5513037">
                <a:moveTo>
                  <a:pt x="0" y="0"/>
                </a:moveTo>
                <a:lnTo>
                  <a:pt x="5513037" y="0"/>
                </a:lnTo>
                <a:lnTo>
                  <a:pt x="5513037" y="6211872"/>
                </a:lnTo>
                <a:lnTo>
                  <a:pt x="0" y="6211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891725" y="4859102"/>
            <a:ext cx="5286026" cy="2424964"/>
          </a:xfrm>
          <a:custGeom>
            <a:avLst/>
            <a:gdLst/>
            <a:ahLst/>
            <a:cxnLst/>
            <a:rect r="r" b="b" t="t" l="l"/>
            <a:pathLst>
              <a:path h="2424964" w="5286026">
                <a:moveTo>
                  <a:pt x="0" y="0"/>
                </a:moveTo>
                <a:lnTo>
                  <a:pt x="5286026" y="0"/>
                </a:lnTo>
                <a:lnTo>
                  <a:pt x="5286026" y="2424964"/>
                </a:lnTo>
                <a:lnTo>
                  <a:pt x="0" y="2424964"/>
                </a:lnTo>
                <a:lnTo>
                  <a:pt x="0" y="0"/>
                </a:lnTo>
                <a:close/>
              </a:path>
            </a:pathLst>
          </a:custGeom>
          <a:blipFill>
            <a:blip r:embed="rId6"/>
            <a:stretch>
              <a:fillRect l="0" t="0" r="0" b="0"/>
            </a:stretch>
          </a:blipFill>
        </p:spPr>
      </p:sp>
      <p:sp>
        <p:nvSpPr>
          <p:cNvPr name="Freeform 5" id="5"/>
          <p:cNvSpPr/>
          <p:nvPr/>
        </p:nvSpPr>
        <p:spPr>
          <a:xfrm flipH="false" flipV="false" rot="0">
            <a:off x="12891725" y="7611796"/>
            <a:ext cx="4367575" cy="1455858"/>
          </a:xfrm>
          <a:custGeom>
            <a:avLst/>
            <a:gdLst/>
            <a:ahLst/>
            <a:cxnLst/>
            <a:rect r="r" b="b" t="t" l="l"/>
            <a:pathLst>
              <a:path h="1455858" w="4367575">
                <a:moveTo>
                  <a:pt x="0" y="0"/>
                </a:moveTo>
                <a:lnTo>
                  <a:pt x="4367575" y="0"/>
                </a:lnTo>
                <a:lnTo>
                  <a:pt x="4367575" y="1455859"/>
                </a:lnTo>
                <a:lnTo>
                  <a:pt x="0" y="1455859"/>
                </a:lnTo>
                <a:lnTo>
                  <a:pt x="0" y="0"/>
                </a:lnTo>
                <a:close/>
              </a:path>
            </a:pathLst>
          </a:custGeom>
          <a:blipFill>
            <a:blip r:embed="rId7"/>
            <a:stretch>
              <a:fillRect l="0" t="0" r="0" b="0"/>
            </a:stretch>
          </a:blipFill>
        </p:spPr>
      </p:sp>
      <p:sp>
        <p:nvSpPr>
          <p:cNvPr name="TextBox 6" id="6"/>
          <p:cNvSpPr txBox="true"/>
          <p:nvPr/>
        </p:nvSpPr>
        <p:spPr>
          <a:xfrm rot="0">
            <a:off x="5956272" y="493573"/>
            <a:ext cx="12294909" cy="2134234"/>
          </a:xfrm>
          <a:prstGeom prst="rect">
            <a:avLst/>
          </a:prstGeom>
        </p:spPr>
        <p:txBody>
          <a:bodyPr anchor="t" rtlCol="false" tIns="0" lIns="0" bIns="0" rIns="0">
            <a:spAutoFit/>
          </a:bodyPr>
          <a:lstStyle/>
          <a:p>
            <a:pPr algn="ctr">
              <a:lnSpc>
                <a:spcPts val="8244"/>
              </a:lnSpc>
            </a:pPr>
            <a:r>
              <a:rPr lang="en-US" sz="8499" b="true">
                <a:solidFill>
                  <a:srgbClr val="000000"/>
                </a:solidFill>
                <a:latin typeface="DM Sans Bold"/>
                <a:ea typeface="DM Sans Bold"/>
                <a:cs typeface="DM Sans Bold"/>
                <a:sym typeface="DM Sans Bold"/>
              </a:rPr>
              <a:t>Training Objective: </a:t>
            </a:r>
          </a:p>
          <a:p>
            <a:pPr algn="ctr">
              <a:lnSpc>
                <a:spcPts val="8244"/>
              </a:lnSpc>
            </a:pPr>
            <a:r>
              <a:rPr lang="en-US" b="true" sz="8499">
                <a:solidFill>
                  <a:srgbClr val="000000"/>
                </a:solidFill>
                <a:latin typeface="DM Sans Bold"/>
                <a:ea typeface="DM Sans Bold"/>
                <a:cs typeface="DM Sans Bold"/>
                <a:sym typeface="DM Sans Bold"/>
              </a:rPr>
              <a:t>Multi-Task Loss</a:t>
            </a:r>
          </a:p>
        </p:txBody>
      </p:sp>
      <p:sp>
        <p:nvSpPr>
          <p:cNvPr name="TextBox 7" id="7"/>
          <p:cNvSpPr txBox="true"/>
          <p:nvPr/>
        </p:nvSpPr>
        <p:spPr>
          <a:xfrm rot="0">
            <a:off x="6856940" y="3754202"/>
            <a:ext cx="5855336" cy="2181225"/>
          </a:xfrm>
          <a:prstGeom prst="rect">
            <a:avLst/>
          </a:prstGeom>
        </p:spPr>
        <p:txBody>
          <a:bodyPr anchor="t" rtlCol="false" tIns="0" lIns="0" bIns="0" rIns="0">
            <a:spAutoFit/>
          </a:bodyPr>
          <a:lstStyle/>
          <a:p>
            <a:pPr algn="l">
              <a:lnSpc>
                <a:spcPts val="2699"/>
              </a:lnSpc>
            </a:pPr>
            <a:r>
              <a:rPr lang="en-US" b="true" sz="1999" spc="119" u="none">
                <a:solidFill>
                  <a:srgbClr val="000000"/>
                </a:solidFill>
                <a:latin typeface="DM Sans Bold"/>
                <a:ea typeface="DM Sans Bold"/>
                <a:cs typeface="DM Sans Bold"/>
                <a:sym typeface="DM Sans Bold"/>
              </a:rPr>
              <a:t>Language Modeling Loss</a:t>
            </a:r>
          </a:p>
          <a:p>
            <a:pPr algn="l" marL="1165860" indent="-291465" lvl="3">
              <a:lnSpc>
                <a:spcPts val="2430"/>
              </a:lnSpc>
              <a:buFont typeface="Arial"/>
              <a:buChar char="￭"/>
            </a:pPr>
            <a:r>
              <a:rPr lang="en-US" sz="1800" spc="107" u="none">
                <a:solidFill>
                  <a:srgbClr val="000000"/>
                </a:solidFill>
                <a:latin typeface="DM Sans"/>
                <a:ea typeface="DM Sans"/>
                <a:cs typeface="DM Sans"/>
                <a:sym typeface="DM Sans"/>
              </a:rPr>
              <a:t>Standard next-token prediction loss</a:t>
            </a:r>
          </a:p>
          <a:p>
            <a:pPr algn="l" marL="1165860" indent="-291465" lvl="3">
              <a:lnSpc>
                <a:spcPts val="2430"/>
              </a:lnSpc>
              <a:buFont typeface="Arial"/>
              <a:buChar char="￭"/>
            </a:pPr>
            <a:r>
              <a:rPr lang="en-US" sz="1800" spc="107" u="none">
                <a:solidFill>
                  <a:srgbClr val="000000"/>
                </a:solidFill>
                <a:latin typeface="DM Sans"/>
                <a:ea typeface="DM Sans"/>
                <a:cs typeface="DM Sans"/>
                <a:sym typeface="DM Sans"/>
              </a:rPr>
              <a:t>Teaches the model: "Given this protein embedding and prompt, generate biologically accurate function descriptions."</a:t>
            </a:r>
          </a:p>
          <a:p>
            <a:pPr algn="l" marL="0" indent="0" lvl="0">
              <a:lnSpc>
                <a:spcPts val="2699"/>
              </a:lnSpc>
              <a:spcBef>
                <a:spcPct val="0"/>
              </a:spcBef>
            </a:pPr>
          </a:p>
        </p:txBody>
      </p:sp>
      <p:sp>
        <p:nvSpPr>
          <p:cNvPr name="TextBox 8" id="8"/>
          <p:cNvSpPr txBox="true"/>
          <p:nvPr/>
        </p:nvSpPr>
        <p:spPr>
          <a:xfrm rot="0">
            <a:off x="6856940" y="3007262"/>
            <a:ext cx="10493573" cy="514350"/>
          </a:xfrm>
          <a:prstGeom prst="rect">
            <a:avLst/>
          </a:prstGeom>
        </p:spPr>
        <p:txBody>
          <a:bodyPr anchor="t" rtlCol="false" tIns="0" lIns="0" bIns="0" rIns="0">
            <a:spAutoFit/>
          </a:bodyPr>
          <a:lstStyle/>
          <a:p>
            <a:pPr algn="ctr">
              <a:lnSpc>
                <a:spcPts val="4200"/>
              </a:lnSpc>
            </a:pPr>
            <a:r>
              <a:rPr lang="en-US" sz="3000" b="true">
                <a:solidFill>
                  <a:srgbClr val="000000"/>
                </a:solidFill>
                <a:latin typeface="Canva Sans Bold"/>
                <a:ea typeface="Canva Sans Bold"/>
                <a:cs typeface="Canva Sans Bold"/>
                <a:sym typeface="Canva Sans Bold"/>
              </a:rPr>
              <a:t>Total</a:t>
            </a:r>
            <a:r>
              <a:rPr lang="en-US" b="true" sz="3000">
                <a:solidFill>
                  <a:srgbClr val="000000"/>
                </a:solidFill>
                <a:latin typeface="Canva Sans Bold"/>
                <a:ea typeface="Canva Sans Bold"/>
                <a:cs typeface="Canva Sans Bold"/>
                <a:sym typeface="Canva Sans Bold"/>
              </a:rPr>
              <a:t> Loss = LM Loss + 1.0 × Alignment + 0.5 × Contrastive</a:t>
            </a:r>
          </a:p>
        </p:txBody>
      </p:sp>
      <p:sp>
        <p:nvSpPr>
          <p:cNvPr name="TextBox 9" id="9"/>
          <p:cNvSpPr txBox="true"/>
          <p:nvPr/>
        </p:nvSpPr>
        <p:spPr>
          <a:xfrm rot="0">
            <a:off x="6856940" y="5822805"/>
            <a:ext cx="5513164" cy="3244850"/>
          </a:xfrm>
          <a:prstGeom prst="rect">
            <a:avLst/>
          </a:prstGeom>
        </p:spPr>
        <p:txBody>
          <a:bodyPr anchor="t" rtlCol="false" tIns="0" lIns="0" bIns="0" rIns="0">
            <a:spAutoFit/>
          </a:bodyPr>
          <a:lstStyle/>
          <a:p>
            <a:pPr algn="l">
              <a:lnSpc>
                <a:spcPts val="2799"/>
              </a:lnSpc>
            </a:pPr>
            <a:r>
              <a:rPr lang="en-US" sz="1999" b="true">
                <a:solidFill>
                  <a:srgbClr val="000000"/>
                </a:solidFill>
                <a:latin typeface="DM Sans Bold"/>
                <a:ea typeface="DM Sans Bold"/>
                <a:cs typeface="DM Sans Bold"/>
                <a:sym typeface="DM Sans Bold"/>
              </a:rPr>
              <a:t>Alignment Loss (weight: 1, not scaled)</a:t>
            </a:r>
          </a:p>
          <a:p>
            <a:pPr algn="l" marL="1165860" indent="-291465" lvl="3">
              <a:lnSpc>
                <a:spcPts val="2520"/>
              </a:lnSpc>
              <a:spcBef>
                <a:spcPct val="0"/>
              </a:spcBef>
              <a:buFont typeface="Arial"/>
              <a:buChar char="￭"/>
            </a:pPr>
            <a:r>
              <a:rPr lang="en-US" sz="1800">
                <a:solidFill>
                  <a:srgbClr val="000000"/>
                </a:solidFill>
                <a:latin typeface="DM Sans"/>
                <a:ea typeface="DM Sans"/>
                <a:cs typeface="DM Sans"/>
                <a:sym typeface="DM Sans"/>
              </a:rPr>
              <a:t>C</a:t>
            </a:r>
            <a:r>
              <a:rPr lang="en-US" sz="1800">
                <a:solidFill>
                  <a:srgbClr val="000000"/>
                </a:solidFill>
                <a:latin typeface="DM Sans"/>
                <a:ea typeface="DM Sans"/>
                <a:cs typeface="DM Sans"/>
                <a:sym typeface="DM Sans"/>
              </a:rPr>
              <a:t>osine similarity between protein and text representations</a:t>
            </a:r>
          </a:p>
          <a:p>
            <a:pPr algn="l" marL="1165860" indent="-291465" lvl="3">
              <a:lnSpc>
                <a:spcPts val="2520"/>
              </a:lnSpc>
              <a:spcBef>
                <a:spcPct val="0"/>
              </a:spcBef>
              <a:buFont typeface="Arial"/>
              <a:buChar char="￭"/>
            </a:pPr>
            <a:r>
              <a:rPr lang="en-US" sz="1800">
                <a:solidFill>
                  <a:srgbClr val="000000"/>
                </a:solidFill>
                <a:latin typeface="DM Sans"/>
                <a:ea typeface="DM Sans"/>
                <a:cs typeface="DM Sans"/>
                <a:sym typeface="DM Sans"/>
              </a:rPr>
              <a:t>Loss = 1 - mean(cos_sim(protein_emb, text_emb))</a:t>
            </a:r>
          </a:p>
          <a:p>
            <a:pPr algn="l" marL="777240" indent="-259080" lvl="2">
              <a:lnSpc>
                <a:spcPts val="2520"/>
              </a:lnSpc>
              <a:spcBef>
                <a:spcPct val="0"/>
              </a:spcBef>
              <a:buFont typeface="Arial"/>
              <a:buChar char="⚬"/>
            </a:pPr>
          </a:p>
          <a:p>
            <a:pPr algn="l">
              <a:lnSpc>
                <a:spcPts val="2799"/>
              </a:lnSpc>
              <a:spcBef>
                <a:spcPct val="0"/>
              </a:spcBef>
            </a:pPr>
            <a:r>
              <a:rPr lang="en-US" b="true" sz="1999">
                <a:solidFill>
                  <a:srgbClr val="000000"/>
                </a:solidFill>
                <a:latin typeface="DM Sans Bold"/>
                <a:ea typeface="DM Sans Bold"/>
                <a:cs typeface="DM Sans Bold"/>
                <a:sym typeface="DM Sans Bold"/>
              </a:rPr>
              <a:t>Contrastive Loss (weight: 0.5)</a:t>
            </a:r>
          </a:p>
          <a:p>
            <a:pPr algn="l" marL="1165860" indent="-291465" lvl="3">
              <a:lnSpc>
                <a:spcPts val="2520"/>
              </a:lnSpc>
              <a:spcBef>
                <a:spcPct val="0"/>
              </a:spcBef>
              <a:buFont typeface="Arial"/>
              <a:buChar char="￭"/>
            </a:pPr>
            <a:r>
              <a:rPr lang="en-US" sz="1800">
                <a:solidFill>
                  <a:srgbClr val="000000"/>
                </a:solidFill>
                <a:latin typeface="DM Sans"/>
                <a:ea typeface="DM Sans"/>
                <a:cs typeface="DM Sans"/>
                <a:sym typeface="DM Sans"/>
              </a:rPr>
              <a:t>CLIP-style symmetric cross-entropy</a:t>
            </a:r>
          </a:p>
          <a:p>
            <a:pPr algn="l" marL="1165860" indent="-291465" lvl="3">
              <a:lnSpc>
                <a:spcPts val="2520"/>
              </a:lnSpc>
              <a:spcBef>
                <a:spcPct val="0"/>
              </a:spcBef>
              <a:buFont typeface="Arial"/>
              <a:buChar char="￭"/>
            </a:pPr>
            <a:r>
              <a:rPr lang="en-US" sz="1800">
                <a:solidFill>
                  <a:srgbClr val="000000"/>
                </a:solidFill>
                <a:latin typeface="DM Sans"/>
                <a:ea typeface="DM Sans"/>
                <a:cs typeface="DM Sans"/>
                <a:sym typeface="DM Sans"/>
              </a:rPr>
              <a:t>Temperature: 0.07 for stable gradients</a:t>
            </a:r>
          </a:p>
          <a:p>
            <a:pPr algn="l">
              <a:lnSpc>
                <a:spcPts val="279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759071" y="7661244"/>
            <a:ext cx="3575541" cy="3575541"/>
          </a:xfrm>
          <a:custGeom>
            <a:avLst/>
            <a:gdLst/>
            <a:ahLst/>
            <a:cxnLst/>
            <a:rect r="r" b="b" t="t" l="l"/>
            <a:pathLst>
              <a:path h="3575541" w="3575541">
                <a:moveTo>
                  <a:pt x="0" y="0"/>
                </a:moveTo>
                <a:lnTo>
                  <a:pt x="3575542" y="0"/>
                </a:lnTo>
                <a:lnTo>
                  <a:pt x="3575542" y="3575542"/>
                </a:lnTo>
                <a:lnTo>
                  <a:pt x="0" y="35755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554807" y="3233289"/>
            <a:ext cx="4929058" cy="5636927"/>
            <a:chOff x="0" y="0"/>
            <a:chExt cx="1822571" cy="2084313"/>
          </a:xfrm>
        </p:grpSpPr>
        <p:sp>
          <p:nvSpPr>
            <p:cNvPr name="Freeform 4" id="4"/>
            <p:cNvSpPr/>
            <p:nvPr/>
          </p:nvSpPr>
          <p:spPr>
            <a:xfrm flipH="false" flipV="false" rot="0">
              <a:off x="0" y="0"/>
              <a:ext cx="1822571" cy="2084313"/>
            </a:xfrm>
            <a:custGeom>
              <a:avLst/>
              <a:gdLst/>
              <a:ahLst/>
              <a:cxnLst/>
              <a:rect r="r" b="b" t="t" l="l"/>
              <a:pathLst>
                <a:path h="2084313" w="1822571">
                  <a:moveTo>
                    <a:pt x="23560" y="0"/>
                  </a:moveTo>
                  <a:lnTo>
                    <a:pt x="1799011" y="0"/>
                  </a:lnTo>
                  <a:cubicBezTo>
                    <a:pt x="1812023" y="0"/>
                    <a:pt x="1822571" y="10548"/>
                    <a:pt x="1822571" y="23560"/>
                  </a:cubicBezTo>
                  <a:lnTo>
                    <a:pt x="1822571" y="2060753"/>
                  </a:lnTo>
                  <a:cubicBezTo>
                    <a:pt x="1822571" y="2073765"/>
                    <a:pt x="1812023" y="2084313"/>
                    <a:pt x="1799011" y="2084313"/>
                  </a:cubicBezTo>
                  <a:lnTo>
                    <a:pt x="23560" y="2084313"/>
                  </a:lnTo>
                  <a:cubicBezTo>
                    <a:pt x="10548" y="2084313"/>
                    <a:pt x="0" y="2073765"/>
                    <a:pt x="0" y="2060753"/>
                  </a:cubicBezTo>
                  <a:lnTo>
                    <a:pt x="0" y="23560"/>
                  </a:lnTo>
                  <a:cubicBezTo>
                    <a:pt x="0" y="10548"/>
                    <a:pt x="10548" y="0"/>
                    <a:pt x="23560" y="0"/>
                  </a:cubicBezTo>
                  <a:close/>
                </a:path>
              </a:pathLst>
            </a:custGeom>
            <a:solidFill>
              <a:srgbClr val="8AB7E2"/>
            </a:solidFill>
            <a:ln w="9525" cap="sq">
              <a:solidFill>
                <a:srgbClr val="000000"/>
              </a:solidFill>
              <a:prstDash val="solid"/>
              <a:miter/>
            </a:ln>
          </p:spPr>
        </p:sp>
        <p:sp>
          <p:nvSpPr>
            <p:cNvPr name="TextBox 5" id="5"/>
            <p:cNvSpPr txBox="true"/>
            <p:nvPr/>
          </p:nvSpPr>
          <p:spPr>
            <a:xfrm>
              <a:off x="0" y="-38100"/>
              <a:ext cx="1822571" cy="212241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781874" y="4073819"/>
            <a:ext cx="4069193" cy="4796397"/>
          </a:xfrm>
          <a:prstGeom prst="rect">
            <a:avLst/>
          </a:prstGeom>
        </p:spPr>
        <p:txBody>
          <a:bodyPr anchor="t" rtlCol="false" tIns="0" lIns="0" bIns="0" rIns="0">
            <a:spAutoFit/>
          </a:bodyPr>
          <a:lstStyle/>
          <a:p>
            <a:pPr algn="l" marL="336203" indent="-168102" lvl="1">
              <a:lnSpc>
                <a:spcPts val="2320"/>
              </a:lnSpc>
              <a:buFont typeface="Arial"/>
              <a:buChar char="•"/>
            </a:pPr>
            <a:r>
              <a:rPr lang="en-US" sz="1557" strike="noStrike" u="none">
                <a:solidFill>
                  <a:srgbClr val="000000"/>
                </a:solidFill>
                <a:latin typeface="DM Sans"/>
                <a:ea typeface="DM Sans"/>
                <a:cs typeface="DM Sans"/>
                <a:sym typeface="DM Sans"/>
              </a:rPr>
              <a:t>Batch size: 16</a:t>
            </a:r>
          </a:p>
          <a:p>
            <a:pPr algn="l" marL="1008610" indent="-252152" lvl="3">
              <a:lnSpc>
                <a:spcPts val="2320"/>
              </a:lnSpc>
              <a:buFont typeface="Arial"/>
              <a:buChar char="￭"/>
            </a:pPr>
            <a:r>
              <a:rPr lang="en-US" sz="1557" strike="noStrike" u="none">
                <a:solidFill>
                  <a:srgbClr val="000000"/>
                </a:solidFill>
                <a:latin typeface="DM Sans"/>
                <a:ea typeface="DM Sans"/>
                <a:cs typeface="DM Sans"/>
                <a:sym typeface="DM Sans"/>
              </a:rPr>
              <a:t>~500 batches/epoch  </a:t>
            </a:r>
          </a:p>
          <a:p>
            <a:pPr algn="l" marL="1008610" indent="-252152" lvl="3">
              <a:lnSpc>
                <a:spcPts val="2320"/>
              </a:lnSpc>
              <a:buFont typeface="Arial"/>
              <a:buChar char="￭"/>
            </a:pPr>
            <a:r>
              <a:rPr lang="en-US" sz="1557" strike="noStrike" u="none">
                <a:solidFill>
                  <a:srgbClr val="000000"/>
                </a:solidFill>
                <a:latin typeface="DM Sans"/>
                <a:ea typeface="DM Sans"/>
                <a:cs typeface="DM Sans"/>
                <a:sym typeface="DM Sans"/>
              </a:rPr>
              <a:t>Allows contrastive loss to work</a:t>
            </a:r>
          </a:p>
          <a:p>
            <a:pPr algn="l" marL="1008610" indent="-252152" lvl="3">
              <a:lnSpc>
                <a:spcPts val="2320"/>
              </a:lnSpc>
              <a:buFont typeface="Arial"/>
              <a:buChar char="￭"/>
            </a:pPr>
            <a:r>
              <a:rPr lang="en-US" sz="1557" strike="noStrike" u="none">
                <a:solidFill>
                  <a:srgbClr val="000000"/>
                </a:solidFill>
                <a:latin typeface="DM Sans"/>
                <a:ea typeface="DM Sans"/>
                <a:cs typeface="DM Sans"/>
                <a:sym typeface="DM Sans"/>
              </a:rPr>
              <a:t>Fits in GPU memory with mixed precision</a:t>
            </a:r>
          </a:p>
          <a:p>
            <a:pPr algn="l" marL="336203" indent="-168102" lvl="1">
              <a:lnSpc>
                <a:spcPts val="2320"/>
              </a:lnSpc>
              <a:buFont typeface="Arial"/>
              <a:buChar char="•"/>
            </a:pPr>
            <a:r>
              <a:rPr lang="en-US" sz="1557" strike="noStrike" u="none">
                <a:solidFill>
                  <a:srgbClr val="000000"/>
                </a:solidFill>
                <a:latin typeface="DM Sans"/>
                <a:ea typeface="DM Sans"/>
                <a:cs typeface="DM Sans"/>
                <a:sym typeface="DM Sans"/>
              </a:rPr>
              <a:t>Learning rate: 5e-4 with linear warmup</a:t>
            </a:r>
          </a:p>
          <a:p>
            <a:pPr algn="l" marL="1008610" indent="-252152" lvl="3">
              <a:lnSpc>
                <a:spcPts val="2320"/>
              </a:lnSpc>
              <a:buFont typeface="Arial"/>
              <a:buChar char="￭"/>
            </a:pPr>
            <a:r>
              <a:rPr lang="en-US" sz="1557" strike="noStrike" u="none">
                <a:solidFill>
                  <a:srgbClr val="000000"/>
                </a:solidFill>
                <a:latin typeface="DM Sans"/>
                <a:ea typeface="DM Sans"/>
                <a:cs typeface="DM Sans"/>
                <a:sym typeface="DM Sans"/>
              </a:rPr>
              <a:t>Warmup: 10% of total steps (gradual learning rate increase)</a:t>
            </a:r>
          </a:p>
          <a:p>
            <a:pPr algn="l" marL="1008610" indent="-252152" lvl="3">
              <a:lnSpc>
                <a:spcPts val="2320"/>
              </a:lnSpc>
              <a:buFont typeface="Arial"/>
              <a:buChar char="￭"/>
            </a:pPr>
            <a:r>
              <a:rPr lang="en-US" sz="1557" strike="noStrike" u="none">
                <a:solidFill>
                  <a:srgbClr val="000000"/>
                </a:solidFill>
                <a:latin typeface="DM Sans"/>
                <a:ea typeface="DM Sans"/>
                <a:cs typeface="DM Sans"/>
                <a:sym typeface="DM Sans"/>
              </a:rPr>
              <a:t>Prevents unstable gradients in early training</a:t>
            </a:r>
          </a:p>
          <a:p>
            <a:pPr algn="l" marL="336203" indent="-168102" lvl="1">
              <a:lnSpc>
                <a:spcPts val="2320"/>
              </a:lnSpc>
              <a:buFont typeface="Arial"/>
              <a:buChar char="•"/>
            </a:pPr>
            <a:r>
              <a:rPr lang="en-US" sz="1557" strike="noStrike" u="none">
                <a:solidFill>
                  <a:srgbClr val="000000"/>
                </a:solidFill>
                <a:latin typeface="DM Sans"/>
                <a:ea typeface="DM Sans"/>
                <a:cs typeface="DM Sans"/>
                <a:sym typeface="DM Sans"/>
              </a:rPr>
              <a:t>Epochs: 10 </a:t>
            </a:r>
          </a:p>
          <a:p>
            <a:pPr algn="l" marL="336203" indent="-168102" lvl="1">
              <a:lnSpc>
                <a:spcPts val="2320"/>
              </a:lnSpc>
              <a:buFont typeface="Arial"/>
              <a:buChar char="•"/>
            </a:pPr>
            <a:r>
              <a:rPr lang="en-US" sz="1557" strike="noStrike" u="none">
                <a:solidFill>
                  <a:srgbClr val="000000"/>
                </a:solidFill>
                <a:latin typeface="DM Sans"/>
                <a:ea typeface="DM Sans"/>
                <a:cs typeface="DM Sans"/>
                <a:sym typeface="DM Sans"/>
              </a:rPr>
              <a:t>Max sequence length: 384 tokens</a:t>
            </a:r>
          </a:p>
          <a:p>
            <a:pPr algn="l" marL="1008610" indent="-252152" lvl="3">
              <a:lnSpc>
                <a:spcPts val="2320"/>
              </a:lnSpc>
              <a:buFont typeface="Arial"/>
              <a:buChar char="￭"/>
            </a:pPr>
            <a:r>
              <a:rPr lang="en-US" sz="1557" strike="noStrike" u="none">
                <a:solidFill>
                  <a:srgbClr val="000000"/>
                </a:solidFill>
                <a:latin typeface="DM Sans"/>
                <a:ea typeface="DM Sans"/>
                <a:cs typeface="DM Sans"/>
                <a:sym typeface="DM Sans"/>
              </a:rPr>
              <a:t>Covers prompt + function description</a:t>
            </a:r>
          </a:p>
          <a:p>
            <a:pPr algn="l" marL="336203" indent="-168102" lvl="1">
              <a:lnSpc>
                <a:spcPts val="2320"/>
              </a:lnSpc>
              <a:buFont typeface="Arial"/>
              <a:buChar char="•"/>
            </a:pPr>
            <a:r>
              <a:rPr lang="en-US" sz="1557" strike="noStrike" u="none">
                <a:solidFill>
                  <a:srgbClr val="000000"/>
                </a:solidFill>
                <a:latin typeface="DM Sans"/>
                <a:ea typeface="DM Sans"/>
                <a:cs typeface="DM Sans"/>
                <a:sym typeface="DM Sans"/>
              </a:rPr>
              <a:t>Gradient clipping: max_norm=1.0</a:t>
            </a:r>
          </a:p>
          <a:p>
            <a:pPr algn="l" marL="1008610" indent="-252152" lvl="3">
              <a:lnSpc>
                <a:spcPts val="2320"/>
              </a:lnSpc>
              <a:buFont typeface="Arial"/>
              <a:buChar char="￭"/>
            </a:pPr>
            <a:r>
              <a:rPr lang="en-US" sz="1557" strike="noStrike" u="none">
                <a:solidFill>
                  <a:srgbClr val="000000"/>
                </a:solidFill>
                <a:latin typeface="DM Sans"/>
                <a:ea typeface="DM Sans"/>
                <a:cs typeface="DM Sans"/>
                <a:sym typeface="DM Sans"/>
              </a:rPr>
              <a:t>Prevents exploding gradients</a:t>
            </a:r>
          </a:p>
          <a:p>
            <a:pPr algn="l" marL="0" indent="0" lvl="0">
              <a:lnSpc>
                <a:spcPts val="1873"/>
              </a:lnSpc>
            </a:pPr>
          </a:p>
        </p:txBody>
      </p:sp>
      <p:sp>
        <p:nvSpPr>
          <p:cNvPr name="TextBox 7" id="7"/>
          <p:cNvSpPr txBox="true"/>
          <p:nvPr/>
        </p:nvSpPr>
        <p:spPr>
          <a:xfrm rot="0">
            <a:off x="3777468" y="717060"/>
            <a:ext cx="10733064" cy="2024381"/>
          </a:xfrm>
          <a:prstGeom prst="rect">
            <a:avLst/>
          </a:prstGeom>
        </p:spPr>
        <p:txBody>
          <a:bodyPr anchor="t" rtlCol="false" tIns="0" lIns="0" bIns="0" rIns="0">
            <a:spAutoFit/>
          </a:bodyPr>
          <a:lstStyle/>
          <a:p>
            <a:pPr algn="ctr" marL="0" indent="0" lvl="1">
              <a:lnSpc>
                <a:spcPts val="7760"/>
              </a:lnSpc>
              <a:spcBef>
                <a:spcPct val="0"/>
              </a:spcBef>
            </a:pPr>
            <a:r>
              <a:rPr lang="en-US" b="true" sz="8000">
                <a:solidFill>
                  <a:srgbClr val="000000"/>
                </a:solidFill>
                <a:latin typeface="DM Sans Bold"/>
                <a:ea typeface="DM Sans Bold"/>
                <a:cs typeface="DM Sans Bold"/>
                <a:sym typeface="DM Sans Bold"/>
              </a:rPr>
              <a:t>Training Configuration</a:t>
            </a:r>
          </a:p>
        </p:txBody>
      </p:sp>
      <p:sp>
        <p:nvSpPr>
          <p:cNvPr name="Freeform 8" id="8"/>
          <p:cNvSpPr/>
          <p:nvPr/>
        </p:nvSpPr>
        <p:spPr>
          <a:xfrm flipH="false" flipV="false" rot="0">
            <a:off x="14510532" y="-836893"/>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385021" y="-836893"/>
            <a:ext cx="2827442" cy="3044352"/>
          </a:xfrm>
          <a:custGeom>
            <a:avLst/>
            <a:gdLst/>
            <a:ahLst/>
            <a:cxnLst/>
            <a:rect r="r" b="b" t="t" l="l"/>
            <a:pathLst>
              <a:path h="3044352" w="2827442">
                <a:moveTo>
                  <a:pt x="0" y="0"/>
                </a:moveTo>
                <a:lnTo>
                  <a:pt x="2827442" y="0"/>
                </a:lnTo>
                <a:lnTo>
                  <a:pt x="2827442" y="3044352"/>
                </a:lnTo>
                <a:lnTo>
                  <a:pt x="0" y="304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10" id="10"/>
          <p:cNvGrpSpPr/>
          <p:nvPr/>
        </p:nvGrpSpPr>
        <p:grpSpPr>
          <a:xfrm rot="0">
            <a:off x="6346265" y="3233289"/>
            <a:ext cx="4953435" cy="5636927"/>
            <a:chOff x="0" y="0"/>
            <a:chExt cx="1831585" cy="2084313"/>
          </a:xfrm>
        </p:grpSpPr>
        <p:sp>
          <p:nvSpPr>
            <p:cNvPr name="Freeform 11" id="11"/>
            <p:cNvSpPr/>
            <p:nvPr/>
          </p:nvSpPr>
          <p:spPr>
            <a:xfrm flipH="false" flipV="false" rot="0">
              <a:off x="0" y="0"/>
              <a:ext cx="1831585" cy="2084313"/>
            </a:xfrm>
            <a:custGeom>
              <a:avLst/>
              <a:gdLst/>
              <a:ahLst/>
              <a:cxnLst/>
              <a:rect r="r" b="b" t="t" l="l"/>
              <a:pathLst>
                <a:path h="2084313" w="1831585">
                  <a:moveTo>
                    <a:pt x="23444" y="0"/>
                  </a:moveTo>
                  <a:lnTo>
                    <a:pt x="1808140" y="0"/>
                  </a:lnTo>
                  <a:cubicBezTo>
                    <a:pt x="1821088" y="0"/>
                    <a:pt x="1831585" y="10496"/>
                    <a:pt x="1831585" y="23444"/>
                  </a:cubicBezTo>
                  <a:lnTo>
                    <a:pt x="1831585" y="2060869"/>
                  </a:lnTo>
                  <a:cubicBezTo>
                    <a:pt x="1831585" y="2073817"/>
                    <a:pt x="1821088" y="2084313"/>
                    <a:pt x="1808140" y="2084313"/>
                  </a:cubicBezTo>
                  <a:lnTo>
                    <a:pt x="23444" y="2084313"/>
                  </a:lnTo>
                  <a:cubicBezTo>
                    <a:pt x="10496" y="2084313"/>
                    <a:pt x="0" y="2073817"/>
                    <a:pt x="0" y="2060869"/>
                  </a:cubicBezTo>
                  <a:lnTo>
                    <a:pt x="0" y="23444"/>
                  </a:lnTo>
                  <a:cubicBezTo>
                    <a:pt x="0" y="10496"/>
                    <a:pt x="10496" y="0"/>
                    <a:pt x="23444" y="0"/>
                  </a:cubicBezTo>
                  <a:close/>
                </a:path>
              </a:pathLst>
            </a:custGeom>
            <a:solidFill>
              <a:srgbClr val="8AB7E2"/>
            </a:solidFill>
            <a:ln w="9525" cap="sq">
              <a:solidFill>
                <a:srgbClr val="000000"/>
              </a:solidFill>
              <a:prstDash val="solid"/>
              <a:miter/>
            </a:ln>
          </p:spPr>
        </p:sp>
        <p:sp>
          <p:nvSpPr>
            <p:cNvPr name="TextBox 12" id="12"/>
            <p:cNvSpPr txBox="true"/>
            <p:nvPr/>
          </p:nvSpPr>
          <p:spPr>
            <a:xfrm>
              <a:off x="0" y="-38100"/>
              <a:ext cx="1831585" cy="212241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6707181" y="4433442"/>
            <a:ext cx="4044816" cy="3133523"/>
          </a:xfrm>
          <a:prstGeom prst="rect">
            <a:avLst/>
          </a:prstGeom>
        </p:spPr>
        <p:txBody>
          <a:bodyPr anchor="t" rtlCol="false" tIns="0" lIns="0" bIns="0" rIns="0">
            <a:spAutoFit/>
          </a:bodyPr>
          <a:lstStyle/>
          <a:p>
            <a:pPr algn="l" marL="336203" indent="-168102" lvl="1">
              <a:lnSpc>
                <a:spcPts val="2320"/>
              </a:lnSpc>
              <a:buFont typeface="Arial"/>
              <a:buChar char="•"/>
            </a:pPr>
            <a:r>
              <a:rPr lang="en-US" sz="1557">
                <a:solidFill>
                  <a:srgbClr val="000000"/>
                </a:solidFill>
                <a:latin typeface="DM Sans"/>
                <a:ea typeface="DM Sans"/>
                <a:cs typeface="DM Sans"/>
                <a:sym typeface="DM Sans"/>
              </a:rPr>
              <a:t>Ada</a:t>
            </a:r>
            <a:r>
              <a:rPr lang="en-US" sz="1557" strike="noStrike" u="none">
                <a:solidFill>
                  <a:srgbClr val="000000"/>
                </a:solidFill>
                <a:latin typeface="DM Sans"/>
                <a:ea typeface="DM Sans"/>
                <a:cs typeface="DM Sans"/>
                <a:sym typeface="DM Sans"/>
              </a:rPr>
              <a:t>mW optimizer (weight decay for regularization)</a:t>
            </a:r>
          </a:p>
          <a:p>
            <a:pPr algn="l">
              <a:lnSpc>
                <a:spcPts val="2320"/>
              </a:lnSpc>
            </a:pPr>
          </a:p>
          <a:p>
            <a:pPr algn="l" marL="336203" indent="-168102" lvl="1">
              <a:lnSpc>
                <a:spcPts val="2320"/>
              </a:lnSpc>
              <a:buFont typeface="Arial"/>
              <a:buChar char="•"/>
            </a:pPr>
            <a:r>
              <a:rPr lang="en-US" sz="1557" strike="noStrike" u="none">
                <a:solidFill>
                  <a:srgbClr val="000000"/>
                </a:solidFill>
                <a:latin typeface="DM Sans"/>
                <a:ea typeface="DM Sans"/>
                <a:cs typeface="DM Sans"/>
                <a:sym typeface="DM Sans"/>
              </a:rPr>
              <a:t>Mixed precision training (FP16)</a:t>
            </a:r>
          </a:p>
          <a:p>
            <a:pPr algn="l" marL="1008610" indent="-252152" lvl="3">
              <a:lnSpc>
                <a:spcPts val="2320"/>
              </a:lnSpc>
              <a:buFont typeface="Arial"/>
              <a:buChar char="￭"/>
            </a:pPr>
            <a:r>
              <a:rPr lang="en-US" sz="1557" strike="noStrike" u="none">
                <a:solidFill>
                  <a:srgbClr val="000000"/>
                </a:solidFill>
                <a:latin typeface="DM Sans"/>
                <a:ea typeface="DM Sans"/>
                <a:cs typeface="DM Sans"/>
                <a:sym typeface="DM Sans"/>
              </a:rPr>
              <a:t>2x faster, 50% less memory</a:t>
            </a:r>
          </a:p>
          <a:p>
            <a:pPr algn="l" marL="1008610" indent="-252152" lvl="3">
              <a:lnSpc>
                <a:spcPts val="2320"/>
              </a:lnSpc>
              <a:buFont typeface="Arial"/>
              <a:buChar char="￭"/>
            </a:pPr>
            <a:r>
              <a:rPr lang="en-US" sz="1557" strike="noStrike" u="none">
                <a:solidFill>
                  <a:srgbClr val="000000"/>
                </a:solidFill>
                <a:latin typeface="DM Sans"/>
                <a:ea typeface="DM Sans"/>
                <a:cs typeface="DM Sans"/>
                <a:sym typeface="DM Sans"/>
              </a:rPr>
              <a:t>Gradient scaler prevents underflow</a:t>
            </a:r>
          </a:p>
          <a:p>
            <a:pPr algn="l">
              <a:lnSpc>
                <a:spcPts val="2320"/>
              </a:lnSpc>
            </a:pPr>
          </a:p>
          <a:p>
            <a:pPr algn="l" marL="336203" indent="-168102" lvl="1">
              <a:lnSpc>
                <a:spcPts val="2320"/>
              </a:lnSpc>
              <a:buFont typeface="Arial"/>
              <a:buChar char="•"/>
            </a:pPr>
            <a:r>
              <a:rPr lang="en-US" sz="1557" strike="noStrike" u="none">
                <a:solidFill>
                  <a:srgbClr val="000000"/>
                </a:solidFill>
                <a:latin typeface="DM Sans"/>
                <a:ea typeface="DM Sans"/>
                <a:cs typeface="DM Sans"/>
                <a:sym typeface="DM Sans"/>
              </a:rPr>
              <a:t>Both model + projector parameters optimized jointly</a:t>
            </a:r>
          </a:p>
          <a:p>
            <a:pPr algn="l" marL="0" indent="0" lvl="0">
              <a:lnSpc>
                <a:spcPts val="2320"/>
              </a:lnSpc>
            </a:pPr>
          </a:p>
        </p:txBody>
      </p:sp>
      <p:grpSp>
        <p:nvGrpSpPr>
          <p:cNvPr name="Group 14" id="14"/>
          <p:cNvGrpSpPr/>
          <p:nvPr/>
        </p:nvGrpSpPr>
        <p:grpSpPr>
          <a:xfrm rot="0">
            <a:off x="554807" y="3233289"/>
            <a:ext cx="4929058" cy="752478"/>
            <a:chOff x="0" y="0"/>
            <a:chExt cx="1026045" cy="156638"/>
          </a:xfrm>
        </p:grpSpPr>
        <p:sp>
          <p:nvSpPr>
            <p:cNvPr name="Freeform 15" id="15"/>
            <p:cNvSpPr/>
            <p:nvPr/>
          </p:nvSpPr>
          <p:spPr>
            <a:xfrm flipH="false" flipV="false" rot="0">
              <a:off x="0" y="0"/>
              <a:ext cx="1026045" cy="156638"/>
            </a:xfrm>
            <a:custGeom>
              <a:avLst/>
              <a:gdLst/>
              <a:ahLst/>
              <a:cxnLst/>
              <a:rect r="r" b="b" t="t" l="l"/>
              <a:pathLst>
                <a:path h="156638" w="1026045">
                  <a:moveTo>
                    <a:pt x="26701" y="0"/>
                  </a:moveTo>
                  <a:lnTo>
                    <a:pt x="999344" y="0"/>
                  </a:lnTo>
                  <a:cubicBezTo>
                    <a:pt x="1014090" y="0"/>
                    <a:pt x="1026045" y="11955"/>
                    <a:pt x="1026045" y="26701"/>
                  </a:cubicBezTo>
                  <a:lnTo>
                    <a:pt x="1026045" y="129936"/>
                  </a:lnTo>
                  <a:cubicBezTo>
                    <a:pt x="1026045" y="144683"/>
                    <a:pt x="1014090" y="156638"/>
                    <a:pt x="999344" y="156638"/>
                  </a:cubicBezTo>
                  <a:lnTo>
                    <a:pt x="26701" y="156638"/>
                  </a:lnTo>
                  <a:cubicBezTo>
                    <a:pt x="19620" y="156638"/>
                    <a:pt x="12828" y="153825"/>
                    <a:pt x="7821" y="148817"/>
                  </a:cubicBezTo>
                  <a:cubicBezTo>
                    <a:pt x="2813" y="143810"/>
                    <a:pt x="0" y="137018"/>
                    <a:pt x="0" y="129936"/>
                  </a:cubicBezTo>
                  <a:lnTo>
                    <a:pt x="0" y="26701"/>
                  </a:lnTo>
                  <a:cubicBezTo>
                    <a:pt x="0" y="19620"/>
                    <a:pt x="2813" y="12828"/>
                    <a:pt x="7821" y="7821"/>
                  </a:cubicBezTo>
                  <a:cubicBezTo>
                    <a:pt x="12828" y="2813"/>
                    <a:pt x="19620" y="0"/>
                    <a:pt x="26701" y="0"/>
                  </a:cubicBezTo>
                  <a:close/>
                </a:path>
              </a:pathLst>
            </a:custGeom>
            <a:solidFill>
              <a:srgbClr val="FFFFFF"/>
            </a:solidFill>
            <a:ln w="19050" cap="sq">
              <a:solidFill>
                <a:srgbClr val="000000"/>
              </a:solidFill>
              <a:prstDash val="solid"/>
              <a:miter/>
            </a:ln>
          </p:spPr>
        </p:sp>
        <p:sp>
          <p:nvSpPr>
            <p:cNvPr name="TextBox 16" id="16"/>
            <p:cNvSpPr txBox="true"/>
            <p:nvPr/>
          </p:nvSpPr>
          <p:spPr>
            <a:xfrm>
              <a:off x="0" y="-47625"/>
              <a:ext cx="1026045" cy="204263"/>
            </a:xfrm>
            <a:prstGeom prst="rect">
              <a:avLst/>
            </a:prstGeom>
          </p:spPr>
          <p:txBody>
            <a:bodyPr anchor="ctr" rtlCol="false" tIns="50800" lIns="50800" bIns="50800" rIns="50800"/>
            <a:lstStyle/>
            <a:p>
              <a:pPr algn="ctr">
                <a:lnSpc>
                  <a:spcPts val="3079"/>
                </a:lnSpc>
              </a:pPr>
              <a:r>
                <a:rPr lang="en-US" sz="2199">
                  <a:solidFill>
                    <a:srgbClr val="000000"/>
                  </a:solidFill>
                  <a:latin typeface="DM Sans"/>
                  <a:ea typeface="DM Sans"/>
                  <a:cs typeface="DM Sans"/>
                  <a:sym typeface="DM Sans"/>
                </a:rPr>
                <a:t>Hyperparameters</a:t>
              </a:r>
            </a:p>
          </p:txBody>
        </p:sp>
      </p:grpSp>
      <p:grpSp>
        <p:nvGrpSpPr>
          <p:cNvPr name="Group 17" id="17"/>
          <p:cNvGrpSpPr/>
          <p:nvPr/>
        </p:nvGrpSpPr>
        <p:grpSpPr>
          <a:xfrm rot="0">
            <a:off x="6346265" y="3233289"/>
            <a:ext cx="4953435" cy="752478"/>
            <a:chOff x="0" y="0"/>
            <a:chExt cx="1031119" cy="156638"/>
          </a:xfrm>
        </p:grpSpPr>
        <p:sp>
          <p:nvSpPr>
            <p:cNvPr name="Freeform 18" id="18"/>
            <p:cNvSpPr/>
            <p:nvPr/>
          </p:nvSpPr>
          <p:spPr>
            <a:xfrm flipH="false" flipV="false" rot="0">
              <a:off x="0" y="0"/>
              <a:ext cx="1031119" cy="156638"/>
            </a:xfrm>
            <a:custGeom>
              <a:avLst/>
              <a:gdLst/>
              <a:ahLst/>
              <a:cxnLst/>
              <a:rect r="r" b="b" t="t" l="l"/>
              <a:pathLst>
                <a:path h="156638" w="1031119">
                  <a:moveTo>
                    <a:pt x="26570" y="0"/>
                  </a:moveTo>
                  <a:lnTo>
                    <a:pt x="1004549" y="0"/>
                  </a:lnTo>
                  <a:cubicBezTo>
                    <a:pt x="1011596" y="0"/>
                    <a:pt x="1018354" y="2799"/>
                    <a:pt x="1023337" y="7782"/>
                  </a:cubicBezTo>
                  <a:cubicBezTo>
                    <a:pt x="1028320" y="12765"/>
                    <a:pt x="1031119" y="19523"/>
                    <a:pt x="1031119" y="26570"/>
                  </a:cubicBezTo>
                  <a:lnTo>
                    <a:pt x="1031119" y="130068"/>
                  </a:lnTo>
                  <a:cubicBezTo>
                    <a:pt x="1031119" y="137115"/>
                    <a:pt x="1028320" y="143873"/>
                    <a:pt x="1023337" y="148856"/>
                  </a:cubicBezTo>
                  <a:cubicBezTo>
                    <a:pt x="1018354" y="153838"/>
                    <a:pt x="1011596" y="156638"/>
                    <a:pt x="1004549" y="156638"/>
                  </a:cubicBezTo>
                  <a:lnTo>
                    <a:pt x="26570" y="156638"/>
                  </a:lnTo>
                  <a:cubicBezTo>
                    <a:pt x="19523" y="156638"/>
                    <a:pt x="12765" y="153838"/>
                    <a:pt x="7782" y="148856"/>
                  </a:cubicBezTo>
                  <a:cubicBezTo>
                    <a:pt x="2799" y="143873"/>
                    <a:pt x="0" y="137115"/>
                    <a:pt x="0" y="130068"/>
                  </a:cubicBezTo>
                  <a:lnTo>
                    <a:pt x="0" y="26570"/>
                  </a:lnTo>
                  <a:cubicBezTo>
                    <a:pt x="0" y="19523"/>
                    <a:pt x="2799" y="12765"/>
                    <a:pt x="7782" y="7782"/>
                  </a:cubicBezTo>
                  <a:cubicBezTo>
                    <a:pt x="12765" y="2799"/>
                    <a:pt x="19523" y="0"/>
                    <a:pt x="26570" y="0"/>
                  </a:cubicBezTo>
                  <a:close/>
                </a:path>
              </a:pathLst>
            </a:custGeom>
            <a:solidFill>
              <a:srgbClr val="FFFFFF"/>
            </a:solidFill>
            <a:ln w="19050" cap="sq">
              <a:solidFill>
                <a:srgbClr val="000000"/>
              </a:solidFill>
              <a:prstDash val="solid"/>
              <a:miter/>
            </a:ln>
          </p:spPr>
        </p:sp>
        <p:sp>
          <p:nvSpPr>
            <p:cNvPr name="TextBox 19" id="19"/>
            <p:cNvSpPr txBox="true"/>
            <p:nvPr/>
          </p:nvSpPr>
          <p:spPr>
            <a:xfrm>
              <a:off x="0" y="-47625"/>
              <a:ext cx="1031119" cy="204263"/>
            </a:xfrm>
            <a:prstGeom prst="rect">
              <a:avLst/>
            </a:prstGeom>
          </p:spPr>
          <p:txBody>
            <a:bodyPr anchor="ctr" rtlCol="false" tIns="50800" lIns="50800" bIns="50800" rIns="50800"/>
            <a:lstStyle/>
            <a:p>
              <a:pPr algn="ctr">
                <a:lnSpc>
                  <a:spcPts val="3079"/>
                </a:lnSpc>
              </a:pPr>
              <a:r>
                <a:rPr lang="en-US" sz="2199">
                  <a:solidFill>
                    <a:srgbClr val="000000"/>
                  </a:solidFill>
                  <a:latin typeface="DM Sans"/>
                  <a:ea typeface="DM Sans"/>
                  <a:cs typeface="DM Sans"/>
                  <a:sym typeface="DM Sans"/>
                </a:rPr>
                <a:t>Optimization Strategy</a:t>
              </a:r>
            </a:p>
          </p:txBody>
        </p:sp>
      </p:grpSp>
      <p:sp>
        <p:nvSpPr>
          <p:cNvPr name="TextBox 20" id="20"/>
          <p:cNvSpPr txBox="true"/>
          <p:nvPr/>
        </p:nvSpPr>
        <p:spPr>
          <a:xfrm rot="0">
            <a:off x="7624547" y="9420440"/>
            <a:ext cx="3380184" cy="257175"/>
          </a:xfrm>
          <a:prstGeom prst="rect">
            <a:avLst/>
          </a:prstGeom>
        </p:spPr>
        <p:txBody>
          <a:bodyPr anchor="t" rtlCol="false" tIns="0" lIns="0" bIns="0" rIns="0">
            <a:spAutoFit/>
          </a:bodyPr>
          <a:lstStyle/>
          <a:p>
            <a:pPr algn="ctr">
              <a:lnSpc>
                <a:spcPts val="2100"/>
              </a:lnSpc>
            </a:pPr>
            <a:r>
              <a:rPr lang="en-US" sz="1500">
                <a:solidFill>
                  <a:srgbClr val="000000"/>
                </a:solidFill>
                <a:latin typeface="Canva Sans"/>
                <a:ea typeface="Canva Sans"/>
                <a:cs typeface="Canva Sans"/>
                <a:sym typeface="Canva Sans"/>
              </a:rPr>
              <a:t>Har</a:t>
            </a:r>
            <a:r>
              <a:rPr lang="en-US" sz="1500">
                <a:solidFill>
                  <a:srgbClr val="000000"/>
                </a:solidFill>
                <a:latin typeface="Canva Sans"/>
                <a:ea typeface="Canva Sans"/>
                <a:cs typeface="Canva Sans"/>
                <a:sym typeface="Canva Sans"/>
              </a:rPr>
              <a:t>dware: CUDA GPU (Google Colab)</a:t>
            </a:r>
          </a:p>
        </p:txBody>
      </p:sp>
      <p:grpSp>
        <p:nvGrpSpPr>
          <p:cNvPr name="Group 21" id="21"/>
          <p:cNvGrpSpPr/>
          <p:nvPr/>
        </p:nvGrpSpPr>
        <p:grpSpPr>
          <a:xfrm rot="0">
            <a:off x="12166474" y="3233289"/>
            <a:ext cx="4953435" cy="5636927"/>
            <a:chOff x="0" y="0"/>
            <a:chExt cx="1831585" cy="2084313"/>
          </a:xfrm>
        </p:grpSpPr>
        <p:sp>
          <p:nvSpPr>
            <p:cNvPr name="Freeform 22" id="22"/>
            <p:cNvSpPr/>
            <p:nvPr/>
          </p:nvSpPr>
          <p:spPr>
            <a:xfrm flipH="false" flipV="false" rot="0">
              <a:off x="0" y="0"/>
              <a:ext cx="1831585" cy="2084313"/>
            </a:xfrm>
            <a:custGeom>
              <a:avLst/>
              <a:gdLst/>
              <a:ahLst/>
              <a:cxnLst/>
              <a:rect r="r" b="b" t="t" l="l"/>
              <a:pathLst>
                <a:path h="2084313" w="1831585">
                  <a:moveTo>
                    <a:pt x="23444" y="0"/>
                  </a:moveTo>
                  <a:lnTo>
                    <a:pt x="1808140" y="0"/>
                  </a:lnTo>
                  <a:cubicBezTo>
                    <a:pt x="1821088" y="0"/>
                    <a:pt x="1831585" y="10496"/>
                    <a:pt x="1831585" y="23444"/>
                  </a:cubicBezTo>
                  <a:lnTo>
                    <a:pt x="1831585" y="2060869"/>
                  </a:lnTo>
                  <a:cubicBezTo>
                    <a:pt x="1831585" y="2073817"/>
                    <a:pt x="1821088" y="2084313"/>
                    <a:pt x="1808140" y="2084313"/>
                  </a:cubicBezTo>
                  <a:lnTo>
                    <a:pt x="23444" y="2084313"/>
                  </a:lnTo>
                  <a:cubicBezTo>
                    <a:pt x="10496" y="2084313"/>
                    <a:pt x="0" y="2073817"/>
                    <a:pt x="0" y="2060869"/>
                  </a:cubicBezTo>
                  <a:lnTo>
                    <a:pt x="0" y="23444"/>
                  </a:lnTo>
                  <a:cubicBezTo>
                    <a:pt x="0" y="10496"/>
                    <a:pt x="10496" y="0"/>
                    <a:pt x="23444" y="0"/>
                  </a:cubicBezTo>
                  <a:close/>
                </a:path>
              </a:pathLst>
            </a:custGeom>
            <a:solidFill>
              <a:srgbClr val="8AB7E2"/>
            </a:solidFill>
            <a:ln w="9525" cap="sq">
              <a:solidFill>
                <a:srgbClr val="000000"/>
              </a:solidFill>
              <a:prstDash val="solid"/>
              <a:miter/>
            </a:ln>
          </p:spPr>
        </p:sp>
        <p:sp>
          <p:nvSpPr>
            <p:cNvPr name="TextBox 23" id="23"/>
            <p:cNvSpPr txBox="true"/>
            <p:nvPr/>
          </p:nvSpPr>
          <p:spPr>
            <a:xfrm>
              <a:off x="0" y="-38100"/>
              <a:ext cx="1831585" cy="212241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4" id="24"/>
          <p:cNvGrpSpPr/>
          <p:nvPr/>
        </p:nvGrpSpPr>
        <p:grpSpPr>
          <a:xfrm rot="0">
            <a:off x="12166474" y="3233289"/>
            <a:ext cx="4953435" cy="752478"/>
            <a:chOff x="0" y="0"/>
            <a:chExt cx="1031119" cy="156638"/>
          </a:xfrm>
        </p:grpSpPr>
        <p:sp>
          <p:nvSpPr>
            <p:cNvPr name="Freeform 25" id="25"/>
            <p:cNvSpPr/>
            <p:nvPr/>
          </p:nvSpPr>
          <p:spPr>
            <a:xfrm flipH="false" flipV="false" rot="0">
              <a:off x="0" y="0"/>
              <a:ext cx="1031119" cy="156638"/>
            </a:xfrm>
            <a:custGeom>
              <a:avLst/>
              <a:gdLst/>
              <a:ahLst/>
              <a:cxnLst/>
              <a:rect r="r" b="b" t="t" l="l"/>
              <a:pathLst>
                <a:path h="156638" w="1031119">
                  <a:moveTo>
                    <a:pt x="26570" y="0"/>
                  </a:moveTo>
                  <a:lnTo>
                    <a:pt x="1004549" y="0"/>
                  </a:lnTo>
                  <a:cubicBezTo>
                    <a:pt x="1011596" y="0"/>
                    <a:pt x="1018354" y="2799"/>
                    <a:pt x="1023337" y="7782"/>
                  </a:cubicBezTo>
                  <a:cubicBezTo>
                    <a:pt x="1028320" y="12765"/>
                    <a:pt x="1031119" y="19523"/>
                    <a:pt x="1031119" y="26570"/>
                  </a:cubicBezTo>
                  <a:lnTo>
                    <a:pt x="1031119" y="130068"/>
                  </a:lnTo>
                  <a:cubicBezTo>
                    <a:pt x="1031119" y="137115"/>
                    <a:pt x="1028320" y="143873"/>
                    <a:pt x="1023337" y="148856"/>
                  </a:cubicBezTo>
                  <a:cubicBezTo>
                    <a:pt x="1018354" y="153838"/>
                    <a:pt x="1011596" y="156638"/>
                    <a:pt x="1004549" y="156638"/>
                  </a:cubicBezTo>
                  <a:lnTo>
                    <a:pt x="26570" y="156638"/>
                  </a:lnTo>
                  <a:cubicBezTo>
                    <a:pt x="19523" y="156638"/>
                    <a:pt x="12765" y="153838"/>
                    <a:pt x="7782" y="148856"/>
                  </a:cubicBezTo>
                  <a:cubicBezTo>
                    <a:pt x="2799" y="143873"/>
                    <a:pt x="0" y="137115"/>
                    <a:pt x="0" y="130068"/>
                  </a:cubicBezTo>
                  <a:lnTo>
                    <a:pt x="0" y="26570"/>
                  </a:lnTo>
                  <a:cubicBezTo>
                    <a:pt x="0" y="19523"/>
                    <a:pt x="2799" y="12765"/>
                    <a:pt x="7782" y="7782"/>
                  </a:cubicBezTo>
                  <a:cubicBezTo>
                    <a:pt x="12765" y="2799"/>
                    <a:pt x="19523" y="0"/>
                    <a:pt x="26570" y="0"/>
                  </a:cubicBezTo>
                  <a:close/>
                </a:path>
              </a:pathLst>
            </a:custGeom>
            <a:solidFill>
              <a:srgbClr val="FFFFFF"/>
            </a:solidFill>
            <a:ln w="19050" cap="sq">
              <a:solidFill>
                <a:srgbClr val="000000"/>
              </a:solidFill>
              <a:prstDash val="solid"/>
              <a:miter/>
            </a:ln>
          </p:spPr>
        </p:sp>
        <p:sp>
          <p:nvSpPr>
            <p:cNvPr name="TextBox 26" id="26"/>
            <p:cNvSpPr txBox="true"/>
            <p:nvPr/>
          </p:nvSpPr>
          <p:spPr>
            <a:xfrm>
              <a:off x="0" y="-47625"/>
              <a:ext cx="1031119" cy="204263"/>
            </a:xfrm>
            <a:prstGeom prst="rect">
              <a:avLst/>
            </a:prstGeom>
          </p:spPr>
          <p:txBody>
            <a:bodyPr anchor="ctr" rtlCol="false" tIns="50800" lIns="50800" bIns="50800" rIns="50800"/>
            <a:lstStyle/>
            <a:p>
              <a:pPr algn="ctr">
                <a:lnSpc>
                  <a:spcPts val="3079"/>
                </a:lnSpc>
              </a:pPr>
              <a:r>
                <a:rPr lang="en-US" sz="2199">
                  <a:solidFill>
                    <a:srgbClr val="000000"/>
                  </a:solidFill>
                  <a:latin typeface="DM Sans"/>
                  <a:ea typeface="DM Sans"/>
                  <a:cs typeface="DM Sans"/>
                  <a:sym typeface="DM Sans"/>
                </a:rPr>
                <a:t>Training and Inference Prompt</a:t>
              </a:r>
            </a:p>
          </p:txBody>
        </p:sp>
      </p:grpSp>
      <p:sp>
        <p:nvSpPr>
          <p:cNvPr name="TextBox 27" id="27"/>
          <p:cNvSpPr txBox="true"/>
          <p:nvPr/>
        </p:nvSpPr>
        <p:spPr>
          <a:xfrm rot="0">
            <a:off x="12620784" y="4433442"/>
            <a:ext cx="4044816" cy="3756648"/>
          </a:xfrm>
          <a:prstGeom prst="rect">
            <a:avLst/>
          </a:prstGeom>
        </p:spPr>
        <p:txBody>
          <a:bodyPr anchor="t" rtlCol="false" tIns="0" lIns="0" bIns="0" rIns="0">
            <a:spAutoFit/>
          </a:bodyPr>
          <a:lstStyle/>
          <a:p>
            <a:pPr algn="l">
              <a:lnSpc>
                <a:spcPts val="2767"/>
              </a:lnSpc>
            </a:pPr>
            <a:r>
              <a:rPr lang="en-US" sz="1857">
                <a:solidFill>
                  <a:srgbClr val="000000"/>
                </a:solidFill>
                <a:latin typeface="DM Sans"/>
                <a:ea typeface="DM Sans"/>
                <a:cs typeface="DM Sans"/>
                <a:sym typeface="DM Sans"/>
              </a:rPr>
              <a:t>[PROTEIN]</a:t>
            </a:r>
          </a:p>
          <a:p>
            <a:pPr algn="l">
              <a:lnSpc>
                <a:spcPts val="2767"/>
              </a:lnSpc>
            </a:pPr>
            <a:r>
              <a:rPr lang="en-US" sz="1857">
                <a:solidFill>
                  <a:srgbClr val="000000"/>
                </a:solidFill>
                <a:latin typeface="DM Sans"/>
                <a:ea typeface="DM Sans"/>
                <a:cs typeface="DM Sans"/>
                <a:sym typeface="DM Sans"/>
              </a:rPr>
              <a:t>LENGTH: {sequence_length}</a:t>
            </a:r>
          </a:p>
          <a:p>
            <a:pPr algn="l">
              <a:lnSpc>
                <a:spcPts val="2767"/>
              </a:lnSpc>
            </a:pPr>
            <a:r>
              <a:rPr lang="en-US" sz="1857">
                <a:solidFill>
                  <a:srgbClr val="000000"/>
                </a:solidFill>
                <a:latin typeface="DM Sans"/>
                <a:ea typeface="DM Sans"/>
                <a:cs typeface="DM Sans"/>
                <a:sym typeface="DM Sans"/>
              </a:rPr>
              <a:t>SEQUENCE: {sequence}</a:t>
            </a:r>
          </a:p>
          <a:p>
            <a:pPr algn="l">
              <a:lnSpc>
                <a:spcPts val="2767"/>
              </a:lnSpc>
            </a:pPr>
            <a:r>
              <a:rPr lang="en-US" sz="1857">
                <a:solidFill>
                  <a:srgbClr val="000000"/>
                </a:solidFill>
                <a:latin typeface="DM Sans"/>
                <a:ea typeface="DM Sans"/>
                <a:cs typeface="DM Sans"/>
                <a:sym typeface="DM Sans"/>
              </a:rPr>
              <a:t>[/PROTEIN]</a:t>
            </a:r>
          </a:p>
          <a:p>
            <a:pPr algn="l">
              <a:lnSpc>
                <a:spcPts val="2767"/>
              </a:lnSpc>
            </a:pPr>
            <a:r>
              <a:rPr lang="en-US" sz="1857">
                <a:solidFill>
                  <a:srgbClr val="000000"/>
                </a:solidFill>
                <a:latin typeface="DM Sans"/>
                <a:ea typeface="DM Sans"/>
                <a:cs typeface="DM Sans"/>
                <a:sym typeface="DM Sans"/>
              </a:rPr>
              <a:t>FUNCTION:</a:t>
            </a:r>
          </a:p>
          <a:p>
            <a:pPr algn="l">
              <a:lnSpc>
                <a:spcPts val="2767"/>
              </a:lnSpc>
            </a:pPr>
            <a:r>
              <a:rPr lang="en-US" sz="1857">
                <a:solidFill>
                  <a:srgbClr val="000000"/>
                </a:solidFill>
                <a:latin typeface="DM Sans"/>
                <a:ea typeface="DM Sans"/>
                <a:cs typeface="DM Sans"/>
                <a:sym typeface="DM Sans"/>
              </a:rPr>
              <a:t>{predicted_or_target_function}</a:t>
            </a:r>
          </a:p>
          <a:p>
            <a:pPr algn="l">
              <a:lnSpc>
                <a:spcPts val="2320"/>
              </a:lnSpc>
            </a:pPr>
          </a:p>
          <a:p>
            <a:pPr algn="l">
              <a:lnSpc>
                <a:spcPts val="2320"/>
              </a:lnSpc>
            </a:pPr>
            <a:r>
              <a:rPr lang="en-US" sz="1557">
                <a:solidFill>
                  <a:srgbClr val="000000"/>
                </a:solidFill>
                <a:latin typeface="DM Sans"/>
                <a:ea typeface="DM Sans"/>
                <a:cs typeface="DM Sans"/>
                <a:sym typeface="DM Sans"/>
              </a:rPr>
              <a:t>Benefits:</a:t>
            </a:r>
          </a:p>
          <a:p>
            <a:pPr algn="l" marL="336203" indent="-168102" lvl="1">
              <a:lnSpc>
                <a:spcPts val="2320"/>
              </a:lnSpc>
              <a:buFont typeface="Arial"/>
              <a:buChar char="•"/>
            </a:pPr>
            <a:r>
              <a:rPr lang="en-US" sz="1557">
                <a:solidFill>
                  <a:srgbClr val="000000"/>
                </a:solidFill>
                <a:latin typeface="DM Sans"/>
                <a:ea typeface="DM Sans"/>
                <a:cs typeface="DM Sans"/>
                <a:sym typeface="DM Sans"/>
              </a:rPr>
              <a:t>Provides structural context to the LM</a:t>
            </a:r>
          </a:p>
          <a:p>
            <a:pPr algn="l" marL="336203" indent="-168102" lvl="1">
              <a:lnSpc>
                <a:spcPts val="2320"/>
              </a:lnSpc>
              <a:buFont typeface="Arial"/>
              <a:buChar char="•"/>
            </a:pPr>
            <a:r>
              <a:rPr lang="en-US" sz="1557">
                <a:solidFill>
                  <a:srgbClr val="000000"/>
                </a:solidFill>
                <a:latin typeface="DM Sans"/>
                <a:ea typeface="DM Sans"/>
                <a:cs typeface="DM Sans"/>
                <a:sym typeface="DM Sans"/>
              </a:rPr>
              <a:t>Mirrors evaluation-time behavior</a:t>
            </a:r>
          </a:p>
          <a:p>
            <a:pPr algn="l" marL="336203" indent="-168102" lvl="1">
              <a:lnSpc>
                <a:spcPts val="2320"/>
              </a:lnSpc>
              <a:buFont typeface="Arial"/>
              <a:buChar char="•"/>
            </a:pPr>
            <a:r>
              <a:rPr lang="en-US" sz="1557">
                <a:solidFill>
                  <a:srgbClr val="000000"/>
                </a:solidFill>
                <a:latin typeface="DM Sans"/>
                <a:ea typeface="DM Sans"/>
                <a:cs typeface="DM Sans"/>
                <a:sym typeface="DM Sans"/>
              </a:rPr>
              <a:t>Enables length-aware generation</a:t>
            </a:r>
          </a:p>
          <a:p>
            <a:pPr algn="l" marL="0" indent="0" lvl="0">
              <a:lnSpc>
                <a:spcPts val="2320"/>
              </a:lnSpc>
            </a:pPr>
          </a:p>
        </p:txBody>
      </p:sp>
      <p:sp>
        <p:nvSpPr>
          <p:cNvPr name="Freeform 28" id="28"/>
          <p:cNvSpPr/>
          <p:nvPr/>
        </p:nvSpPr>
        <p:spPr>
          <a:xfrm flipH="false" flipV="false" rot="0">
            <a:off x="9314640" y="9258300"/>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687749" y="470477"/>
            <a:ext cx="8346809" cy="1063819"/>
          </a:xfrm>
          <a:prstGeom prst="rect">
            <a:avLst/>
          </a:prstGeom>
        </p:spPr>
        <p:txBody>
          <a:bodyPr anchor="t" rtlCol="false" tIns="0" lIns="0" bIns="0" rIns="0">
            <a:spAutoFit/>
          </a:bodyPr>
          <a:lstStyle/>
          <a:p>
            <a:pPr algn="ctr">
              <a:lnSpc>
                <a:spcPts val="7808"/>
              </a:lnSpc>
            </a:pPr>
            <a:r>
              <a:rPr lang="en-US" b="true" sz="8050">
                <a:solidFill>
                  <a:srgbClr val="000000"/>
                </a:solidFill>
                <a:latin typeface="DM Sans Bold"/>
                <a:ea typeface="DM Sans Bold"/>
                <a:cs typeface="DM Sans Bold"/>
                <a:sym typeface="DM Sans Bold"/>
              </a:rPr>
              <a:t>Results Analysis</a:t>
            </a:r>
          </a:p>
        </p:txBody>
      </p:sp>
      <p:sp>
        <p:nvSpPr>
          <p:cNvPr name="Freeform 4" id="4"/>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1" id="11"/>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2" id="12"/>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3" id="13"/>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4" id="14"/>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5" id="15"/>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6" id="16"/>
          <p:cNvSpPr/>
          <p:nvPr/>
        </p:nvSpPr>
        <p:spPr>
          <a:xfrm flipH="false" flipV="false" rot="0">
            <a:off x="921317" y="5033164"/>
            <a:ext cx="4925727" cy="4426919"/>
          </a:xfrm>
          <a:custGeom>
            <a:avLst/>
            <a:gdLst/>
            <a:ahLst/>
            <a:cxnLst/>
            <a:rect r="r" b="b" t="t" l="l"/>
            <a:pathLst>
              <a:path h="4426919" w="4925727">
                <a:moveTo>
                  <a:pt x="0" y="0"/>
                </a:moveTo>
                <a:lnTo>
                  <a:pt x="4925727" y="0"/>
                </a:lnTo>
                <a:lnTo>
                  <a:pt x="4925727" y="4426919"/>
                </a:lnTo>
                <a:lnTo>
                  <a:pt x="0" y="4426919"/>
                </a:lnTo>
                <a:lnTo>
                  <a:pt x="0" y="0"/>
                </a:lnTo>
                <a:close/>
              </a:path>
            </a:pathLst>
          </a:custGeom>
          <a:blipFill>
            <a:blip r:embed="rId28"/>
            <a:stretch>
              <a:fillRect l="0" t="0" r="0" b="0"/>
            </a:stretch>
          </a:blipFill>
        </p:spPr>
      </p:sp>
      <p:sp>
        <p:nvSpPr>
          <p:cNvPr name="Freeform 17" id="17"/>
          <p:cNvSpPr/>
          <p:nvPr/>
        </p:nvSpPr>
        <p:spPr>
          <a:xfrm flipH="false" flipV="false" rot="0">
            <a:off x="7655053" y="1887479"/>
            <a:ext cx="9839757" cy="4655639"/>
          </a:xfrm>
          <a:custGeom>
            <a:avLst/>
            <a:gdLst/>
            <a:ahLst/>
            <a:cxnLst/>
            <a:rect r="r" b="b" t="t" l="l"/>
            <a:pathLst>
              <a:path h="4655639" w="9839757">
                <a:moveTo>
                  <a:pt x="0" y="0"/>
                </a:moveTo>
                <a:lnTo>
                  <a:pt x="9839757" y="0"/>
                </a:lnTo>
                <a:lnTo>
                  <a:pt x="9839757" y="4655639"/>
                </a:lnTo>
                <a:lnTo>
                  <a:pt x="0" y="4655639"/>
                </a:lnTo>
                <a:lnTo>
                  <a:pt x="0" y="0"/>
                </a:lnTo>
                <a:close/>
              </a:path>
            </a:pathLst>
          </a:custGeom>
          <a:blipFill>
            <a:blip r:embed="rId29"/>
            <a:stretch>
              <a:fillRect l="0" t="0" r="0" b="-61595"/>
            </a:stretch>
          </a:blipFill>
        </p:spPr>
      </p:sp>
      <p:sp>
        <p:nvSpPr>
          <p:cNvPr name="Freeform 18" id="18"/>
          <p:cNvSpPr/>
          <p:nvPr/>
        </p:nvSpPr>
        <p:spPr>
          <a:xfrm flipH="false" flipV="false" rot="0">
            <a:off x="8557882" y="6740071"/>
            <a:ext cx="8034099" cy="3302818"/>
          </a:xfrm>
          <a:custGeom>
            <a:avLst/>
            <a:gdLst/>
            <a:ahLst/>
            <a:cxnLst/>
            <a:rect r="r" b="b" t="t" l="l"/>
            <a:pathLst>
              <a:path h="3302818" w="8034099">
                <a:moveTo>
                  <a:pt x="0" y="0"/>
                </a:moveTo>
                <a:lnTo>
                  <a:pt x="8034099" y="0"/>
                </a:lnTo>
                <a:lnTo>
                  <a:pt x="8034099" y="3302818"/>
                </a:lnTo>
                <a:lnTo>
                  <a:pt x="0" y="3302818"/>
                </a:lnTo>
                <a:lnTo>
                  <a:pt x="0" y="0"/>
                </a:lnTo>
                <a:close/>
              </a:path>
            </a:pathLst>
          </a:custGeom>
          <a:blipFill>
            <a:blip r:embed="rId29"/>
            <a:stretch>
              <a:fillRect l="-49876" t="-172249" r="0" b="-6497"/>
            </a:stretch>
          </a:blipFill>
        </p:spPr>
      </p:sp>
      <p:sp>
        <p:nvSpPr>
          <p:cNvPr name="TextBox 19" id="19"/>
          <p:cNvSpPr txBox="true"/>
          <p:nvPr/>
        </p:nvSpPr>
        <p:spPr>
          <a:xfrm rot="0">
            <a:off x="921317" y="1830329"/>
            <a:ext cx="4907383" cy="2984500"/>
          </a:xfrm>
          <a:prstGeom prst="rect">
            <a:avLst/>
          </a:prstGeom>
        </p:spPr>
        <p:txBody>
          <a:bodyPr anchor="t" rtlCol="false" tIns="0" lIns="0" bIns="0" rIns="0">
            <a:spAutoFit/>
          </a:bodyPr>
          <a:lstStyle/>
          <a:p>
            <a:pPr algn="l">
              <a:lnSpc>
                <a:spcPts val="4199"/>
              </a:lnSpc>
            </a:pPr>
            <a:r>
              <a:rPr lang="en-US" sz="2999" b="true">
                <a:solidFill>
                  <a:srgbClr val="000000"/>
                </a:solidFill>
                <a:latin typeface="DM Sans Bold"/>
                <a:ea typeface="DM Sans Bold"/>
                <a:cs typeface="DM Sans Bold"/>
                <a:sym typeface="DM Sans Bold"/>
              </a:rPr>
              <a:t>Key Findings</a:t>
            </a:r>
          </a:p>
          <a:p>
            <a:pPr algn="l" marL="431801" indent="-215900" lvl="1">
              <a:lnSpc>
                <a:spcPts val="2800"/>
              </a:lnSpc>
              <a:spcBef>
                <a:spcPct val="0"/>
              </a:spcBef>
              <a:buFont typeface="Arial"/>
              <a:buChar char="•"/>
            </a:pPr>
            <a:r>
              <a:rPr lang="en-US" sz="2000">
                <a:solidFill>
                  <a:srgbClr val="000000"/>
                </a:solidFill>
                <a:latin typeface="DM Sans"/>
                <a:ea typeface="DM Sans"/>
                <a:cs typeface="DM Sans"/>
                <a:sym typeface="DM Sans"/>
              </a:rPr>
              <a:t>M</a:t>
            </a:r>
            <a:r>
              <a:rPr lang="en-US" sz="2000">
                <a:solidFill>
                  <a:srgbClr val="000000"/>
                </a:solidFill>
                <a:latin typeface="DM Sans"/>
                <a:ea typeface="DM Sans"/>
                <a:cs typeface="DM Sans"/>
                <a:sym typeface="DM Sans"/>
              </a:rPr>
              <a:t>odel excels at capturing biological meaning (high BERTScore)</a:t>
            </a:r>
          </a:p>
          <a:p>
            <a:pPr algn="l" marL="431801" indent="-215900" lvl="1">
              <a:lnSpc>
                <a:spcPts val="2800"/>
              </a:lnSpc>
              <a:spcBef>
                <a:spcPct val="0"/>
              </a:spcBef>
              <a:buFont typeface="Arial"/>
              <a:buChar char="•"/>
            </a:pPr>
            <a:r>
              <a:rPr lang="en-US" sz="2000">
                <a:solidFill>
                  <a:srgbClr val="000000"/>
                </a:solidFill>
                <a:latin typeface="DM Sans"/>
                <a:ea typeface="DM Sans"/>
                <a:cs typeface="DM Sans"/>
                <a:sym typeface="DM Sans"/>
              </a:rPr>
              <a:t>Predictions are semantically accurate but use different terminology</a:t>
            </a:r>
          </a:p>
          <a:p>
            <a:pPr algn="l" marL="431801" indent="-215900" lvl="1">
              <a:lnSpc>
                <a:spcPts val="2800"/>
              </a:lnSpc>
              <a:spcBef>
                <a:spcPct val="0"/>
              </a:spcBef>
              <a:buFont typeface="Arial"/>
              <a:buChar char="•"/>
            </a:pPr>
            <a:r>
              <a:rPr lang="en-US" sz="2000">
                <a:solidFill>
                  <a:srgbClr val="000000"/>
                </a:solidFill>
                <a:latin typeface="DM Sans"/>
                <a:ea typeface="DM Sans"/>
                <a:cs typeface="DM Sans"/>
                <a:sym typeface="DM Sans"/>
              </a:rPr>
              <a:t>Lower ROUGE/BLEU reflects scientific paraphrasing, not poor quality</a:t>
            </a:r>
          </a:p>
          <a:p>
            <a:pPr algn="l">
              <a:lnSpc>
                <a:spcPts val="280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2867768" y="811910"/>
            <a:ext cx="12259512" cy="1063819"/>
          </a:xfrm>
          <a:prstGeom prst="rect">
            <a:avLst/>
          </a:prstGeom>
        </p:spPr>
        <p:txBody>
          <a:bodyPr anchor="t" rtlCol="false" tIns="0" lIns="0" bIns="0" rIns="0">
            <a:spAutoFit/>
          </a:bodyPr>
          <a:lstStyle/>
          <a:p>
            <a:pPr algn="ctr">
              <a:lnSpc>
                <a:spcPts val="7808"/>
              </a:lnSpc>
            </a:pPr>
            <a:r>
              <a:rPr lang="en-US" b="true" sz="8050">
                <a:solidFill>
                  <a:srgbClr val="000000"/>
                </a:solidFill>
                <a:latin typeface="DM Sans Bold"/>
                <a:ea typeface="DM Sans Bold"/>
                <a:cs typeface="DM Sans Bold"/>
                <a:sym typeface="DM Sans Bold"/>
              </a:rPr>
              <a:t>Sample Predictions</a:t>
            </a:r>
          </a:p>
        </p:txBody>
      </p:sp>
      <p:sp>
        <p:nvSpPr>
          <p:cNvPr name="Freeform 4" id="4"/>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1" id="11"/>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2" id="12"/>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3" id="13"/>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4" id="14"/>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5" id="15"/>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6" id="16"/>
          <p:cNvSpPr txBox="true"/>
          <p:nvPr/>
        </p:nvSpPr>
        <p:spPr>
          <a:xfrm rot="0">
            <a:off x="327973" y="2450864"/>
            <a:ext cx="8816027" cy="6990907"/>
          </a:xfrm>
          <a:prstGeom prst="rect">
            <a:avLst/>
          </a:prstGeom>
        </p:spPr>
        <p:txBody>
          <a:bodyPr anchor="t" rtlCol="false" tIns="0" lIns="0" bIns="0" rIns="0">
            <a:spAutoFit/>
          </a:bodyPr>
          <a:lstStyle/>
          <a:p>
            <a:pPr algn="just">
              <a:lnSpc>
                <a:spcPts val="1599"/>
              </a:lnSpc>
              <a:spcBef>
                <a:spcPct val="0"/>
              </a:spcBef>
            </a:pPr>
            <a:r>
              <a:rPr lang="en-US" sz="1142">
                <a:solidFill>
                  <a:srgbClr val="000000"/>
                </a:solidFill>
                <a:latin typeface="DM Sans"/>
                <a:ea typeface="DM Sans"/>
                <a:cs typeface="DM Sans"/>
                <a:sym typeface="DM Sans"/>
              </a:rPr>
              <a:t>=</a:t>
            </a:r>
            <a:r>
              <a:rPr lang="en-US" b="true" sz="1142">
                <a:solidFill>
                  <a:srgbClr val="000000"/>
                </a:solidFill>
                <a:latin typeface="DM Sans Bold"/>
                <a:ea typeface="DM Sans Bold"/>
                <a:cs typeface="DM Sans Bold"/>
                <a:sym typeface="DM Sans Bold"/>
              </a:rPr>
              <a:t>===============================================================================</a:t>
            </a:r>
          </a:p>
          <a:p>
            <a:pPr algn="just">
              <a:lnSpc>
                <a:spcPts val="1599"/>
              </a:lnSpc>
              <a:spcBef>
                <a:spcPct val="0"/>
              </a:spcBef>
            </a:pPr>
            <a:r>
              <a:rPr lang="en-US" b="true" sz="1142">
                <a:solidFill>
                  <a:srgbClr val="000000"/>
                </a:solidFill>
                <a:latin typeface="DM Sans Bold"/>
                <a:ea typeface="DM Sans Bold"/>
                <a:cs typeface="DM Sans Bold"/>
                <a:sym typeface="DM Sans Bold"/>
              </a:rPr>
              <a:t>📝 QUALITATIVE ANALYSIS - SAMPLE PREDICTIONS</a:t>
            </a:r>
          </a:p>
          <a:p>
            <a:pPr algn="just">
              <a:lnSpc>
                <a:spcPts val="1599"/>
              </a:lnSpc>
              <a:spcBef>
                <a:spcPct val="0"/>
              </a:spcBef>
            </a:pPr>
            <a:r>
              <a:rPr lang="en-US" b="true" sz="1142">
                <a:solidFill>
                  <a:srgbClr val="000000"/>
                </a:solidFill>
                <a:latin typeface="DM Sans Bold"/>
                <a:ea typeface="DM Sans Bold"/>
                <a:cs typeface="DM Sans Bold"/>
                <a:sym typeface="DM Sans Bold"/>
              </a:rPr>
              <a:t>================================================================================</a:t>
            </a:r>
          </a:p>
          <a:p>
            <a:pPr algn="just">
              <a:lnSpc>
                <a:spcPts val="1599"/>
              </a:lnSpc>
              <a:spcBef>
                <a:spcPct val="0"/>
              </a:spcBef>
            </a:pPr>
          </a:p>
          <a:p>
            <a:pPr algn="just">
              <a:lnSpc>
                <a:spcPts val="1599"/>
              </a:lnSpc>
              <a:spcBef>
                <a:spcPct val="0"/>
              </a:spcBef>
            </a:pPr>
            <a:r>
              <a:rPr lang="en-US" b="true" sz="1142">
                <a:solidFill>
                  <a:srgbClr val="000000"/>
                </a:solidFill>
                <a:latin typeface="DM Sans Bold"/>
                <a:ea typeface="DM Sans Bold"/>
                <a:cs typeface="DM Sans Bold"/>
                <a:sym typeface="DM Sans Bold"/>
              </a:rPr>
              <a:t>🏆 TOP 3 PREDICTIONS (by ROUGE-L):</a:t>
            </a:r>
          </a:p>
          <a:p>
            <a:pPr algn="just">
              <a:lnSpc>
                <a:spcPts val="1599"/>
              </a:lnSpc>
              <a:spcBef>
                <a:spcPct val="0"/>
              </a:spcBef>
            </a:pPr>
            <a:r>
              <a:rPr lang="en-US" sz="1142">
                <a:solidFill>
                  <a:srgbClr val="000000"/>
                </a:solidFill>
                <a:latin typeface="DM Sans"/>
                <a:ea typeface="DM Sans"/>
                <a:cs typeface="DM Sans"/>
                <a:sym typeface="DM Sans"/>
              </a:rPr>
              <a:t>--------------------------------------------------------------------------------</a:t>
            </a:r>
          </a:p>
          <a:p>
            <a:pPr algn="just">
              <a:lnSpc>
                <a:spcPts val="1599"/>
              </a:lnSpc>
              <a:spcBef>
                <a:spcPct val="0"/>
              </a:spcBef>
            </a:pPr>
          </a:p>
          <a:p>
            <a:pPr algn="just">
              <a:lnSpc>
                <a:spcPts val="1599"/>
              </a:lnSpc>
              <a:spcBef>
                <a:spcPct val="0"/>
              </a:spcBef>
            </a:pPr>
            <a:r>
              <a:rPr lang="en-US" sz="1142">
                <a:solidFill>
                  <a:srgbClr val="000000"/>
                </a:solidFill>
                <a:latin typeface="DM Sans"/>
                <a:ea typeface="DM Sans"/>
                <a:cs typeface="DM Sans"/>
                <a:sym typeface="DM Sans"/>
              </a:rPr>
              <a:t>1. Sample 26 | P01714 | ROUGE-L: 1.0000</a:t>
            </a:r>
          </a:p>
          <a:p>
            <a:pPr algn="just">
              <a:lnSpc>
                <a:spcPts val="1599"/>
              </a:lnSpc>
              <a:spcBef>
                <a:spcPct val="0"/>
              </a:spcBef>
            </a:pPr>
            <a:r>
              <a:rPr lang="en-US" sz="1142">
                <a:solidFill>
                  <a:srgbClr val="000000"/>
                </a:solidFill>
                <a:latin typeface="DM Sans"/>
                <a:ea typeface="DM Sans"/>
                <a:cs typeface="DM Sans"/>
                <a:sym typeface="DM Sans"/>
              </a:rPr>
              <a:t>   Protein: Immunoglobulin lambda variable 3-19</a:t>
            </a:r>
          </a:p>
          <a:p>
            <a:pPr algn="just">
              <a:lnSpc>
                <a:spcPts val="1599"/>
              </a:lnSpc>
              <a:spcBef>
                <a:spcPct val="0"/>
              </a:spcBef>
            </a:pPr>
            <a:r>
              <a:rPr lang="en-US" sz="1142">
                <a:solidFill>
                  <a:srgbClr val="000000"/>
                </a:solidFill>
                <a:latin typeface="DM Sans"/>
                <a:ea typeface="DM Sans"/>
                <a:cs typeface="DM Sans"/>
                <a:sym typeface="DM Sans"/>
              </a:rPr>
              <a:t>   </a:t>
            </a:r>
            <a:r>
              <a:rPr lang="en-US" b="true" sz="1142">
                <a:solidFill>
                  <a:srgbClr val="000000"/>
                </a:solidFill>
                <a:latin typeface="DM Sans Bold"/>
                <a:ea typeface="DM Sans Bold"/>
                <a:cs typeface="DM Sans Bold"/>
                <a:sym typeface="DM Sans Bold"/>
              </a:rPr>
              <a:t>Ground Truth:</a:t>
            </a:r>
            <a:r>
              <a:rPr lang="en-US" sz="1142">
                <a:solidFill>
                  <a:srgbClr val="000000"/>
                </a:solidFill>
                <a:latin typeface="DM Sans"/>
                <a:ea typeface="DM Sans"/>
                <a:cs typeface="DM Sans"/>
                <a:sym typeface="DM Sans"/>
              </a:rPr>
              <a:t> V region of the variable domain of immunoglobulin light chains that participates in the antigen recognition (PubMed:24600447). Immunoglobulins, also known as antibodies, are membrane-bound or secreted glycoproteins produced by B lymphocytes. In the recognition phase of humoral immunity, the membrane-bound immunoglobulins serve as receptors which, upon binding of a specific antigen, trigger the clonal expansion and differentiation of B lymphocytes into immunoglobulins-secreting plasma cells.</a:t>
            </a:r>
          </a:p>
          <a:p>
            <a:pPr algn="just">
              <a:lnSpc>
                <a:spcPts val="1599"/>
              </a:lnSpc>
              <a:spcBef>
                <a:spcPct val="0"/>
              </a:spcBef>
            </a:pPr>
            <a:r>
              <a:rPr lang="en-US" sz="1142">
                <a:solidFill>
                  <a:srgbClr val="000000"/>
                </a:solidFill>
                <a:latin typeface="DM Sans"/>
                <a:ea typeface="DM Sans"/>
                <a:cs typeface="DM Sans"/>
                <a:sym typeface="DM Sans"/>
              </a:rPr>
              <a:t>   </a:t>
            </a:r>
            <a:r>
              <a:rPr lang="en-US" b="true" sz="1142">
                <a:solidFill>
                  <a:srgbClr val="000000"/>
                </a:solidFill>
                <a:latin typeface="DM Sans Bold"/>
                <a:ea typeface="DM Sans Bold"/>
                <a:cs typeface="DM Sans Bold"/>
                <a:sym typeface="DM Sans Bold"/>
              </a:rPr>
              <a:t>Prediction:</a:t>
            </a:r>
            <a:r>
              <a:rPr lang="en-US" sz="1142">
                <a:solidFill>
                  <a:srgbClr val="000000"/>
                </a:solidFill>
                <a:latin typeface="DM Sans"/>
                <a:ea typeface="DM Sans"/>
                <a:cs typeface="DM Sans"/>
                <a:sym typeface="DM Sans"/>
              </a:rPr>
              <a:t>   V region of the variable domain of immunoglobulin light chains that participates in the antigen recognition (PubMed:24600447). Immunoglobulins, also known as antibodies, are membrane-bound or secreted glycoproteins produced by B lymphocytes. In the recognition phase of humoral immunity, the membrane-bound immunoglobulins serve as receptors which, upon binding of a specific antigen, trigger the clonal expansion and differentiation of B lymphocytes into immunoglobulins-secreting plasma cells.</a:t>
            </a:r>
          </a:p>
          <a:p>
            <a:pPr algn="just">
              <a:lnSpc>
                <a:spcPts val="1599"/>
              </a:lnSpc>
              <a:spcBef>
                <a:spcPct val="0"/>
              </a:spcBef>
            </a:pPr>
          </a:p>
          <a:p>
            <a:pPr algn="just">
              <a:lnSpc>
                <a:spcPts val="1599"/>
              </a:lnSpc>
              <a:spcBef>
                <a:spcPct val="0"/>
              </a:spcBef>
            </a:pPr>
            <a:r>
              <a:rPr lang="en-US" sz="1142">
                <a:solidFill>
                  <a:srgbClr val="000000"/>
                </a:solidFill>
                <a:latin typeface="DM Sans"/>
                <a:ea typeface="DM Sans"/>
                <a:cs typeface="DM Sans"/>
                <a:sym typeface="DM Sans"/>
              </a:rPr>
              <a:t>2. Sample 27 | P04808 | ROUGE-L: 1.0000</a:t>
            </a:r>
          </a:p>
          <a:p>
            <a:pPr algn="just">
              <a:lnSpc>
                <a:spcPts val="1599"/>
              </a:lnSpc>
              <a:spcBef>
                <a:spcPct val="0"/>
              </a:spcBef>
            </a:pPr>
            <a:r>
              <a:rPr lang="en-US" sz="1142">
                <a:solidFill>
                  <a:srgbClr val="000000"/>
                </a:solidFill>
                <a:latin typeface="DM Sans"/>
                <a:ea typeface="DM Sans"/>
                <a:cs typeface="DM Sans"/>
                <a:sym typeface="DM Sans"/>
              </a:rPr>
              <a:t>   Protein: Prorelaxin H1</a:t>
            </a:r>
          </a:p>
          <a:p>
            <a:pPr algn="just">
              <a:lnSpc>
                <a:spcPts val="1599"/>
              </a:lnSpc>
              <a:spcBef>
                <a:spcPct val="0"/>
              </a:spcBef>
            </a:pPr>
            <a:r>
              <a:rPr lang="en-US" sz="1142">
                <a:solidFill>
                  <a:srgbClr val="000000"/>
                </a:solidFill>
                <a:latin typeface="DM Sans"/>
                <a:ea typeface="DM Sans"/>
                <a:cs typeface="DM Sans"/>
                <a:sym typeface="DM Sans"/>
              </a:rPr>
              <a:t>   </a:t>
            </a:r>
            <a:r>
              <a:rPr lang="en-US" b="true" sz="1142">
                <a:solidFill>
                  <a:srgbClr val="000000"/>
                </a:solidFill>
                <a:latin typeface="DM Sans Bold"/>
                <a:ea typeface="DM Sans Bold"/>
                <a:cs typeface="DM Sans Bold"/>
                <a:sym typeface="DM Sans Bold"/>
              </a:rPr>
              <a:t>Ground Truth</a:t>
            </a:r>
            <a:r>
              <a:rPr lang="en-US" sz="1142">
                <a:solidFill>
                  <a:srgbClr val="000000"/>
                </a:solidFill>
                <a:latin typeface="DM Sans"/>
                <a:ea typeface="DM Sans"/>
                <a:cs typeface="DM Sans"/>
                <a:sym typeface="DM Sans"/>
              </a:rPr>
              <a:t>: Relaxin is an ovarian hormone that acts with estrogen to produce dilatation of the birth canal in many mammals. May be involved in remodeling of connective tissues during pregnancy, promoting growth of pubic ligaments and ripening of the cervix</a:t>
            </a:r>
          </a:p>
          <a:p>
            <a:pPr algn="just">
              <a:lnSpc>
                <a:spcPts val="1599"/>
              </a:lnSpc>
              <a:spcBef>
                <a:spcPct val="0"/>
              </a:spcBef>
            </a:pPr>
            <a:r>
              <a:rPr lang="en-US" sz="1142">
                <a:solidFill>
                  <a:srgbClr val="000000"/>
                </a:solidFill>
                <a:latin typeface="DM Sans"/>
                <a:ea typeface="DM Sans"/>
                <a:cs typeface="DM Sans"/>
                <a:sym typeface="DM Sans"/>
              </a:rPr>
              <a:t>  </a:t>
            </a:r>
            <a:r>
              <a:rPr lang="en-US" b="true" sz="1142">
                <a:solidFill>
                  <a:srgbClr val="000000"/>
                </a:solidFill>
                <a:latin typeface="DM Sans Bold"/>
                <a:ea typeface="DM Sans Bold"/>
                <a:cs typeface="DM Sans Bold"/>
                <a:sym typeface="DM Sans Bold"/>
              </a:rPr>
              <a:t> Prediction:</a:t>
            </a:r>
            <a:r>
              <a:rPr lang="en-US" sz="1142">
                <a:solidFill>
                  <a:srgbClr val="000000"/>
                </a:solidFill>
                <a:latin typeface="DM Sans"/>
                <a:ea typeface="DM Sans"/>
                <a:cs typeface="DM Sans"/>
                <a:sym typeface="DM Sans"/>
              </a:rPr>
              <a:t>   Relaxin is an ovarian hormone that acts with estrogen to produce dilatation of the birth canal in many mammals. May be involved in remodeling of connective tissues during pregnancy, promoting growth of pubic ligaments and ripening of the cervix</a:t>
            </a:r>
          </a:p>
          <a:p>
            <a:pPr algn="just">
              <a:lnSpc>
                <a:spcPts val="1599"/>
              </a:lnSpc>
              <a:spcBef>
                <a:spcPct val="0"/>
              </a:spcBef>
            </a:pPr>
          </a:p>
          <a:p>
            <a:pPr algn="just">
              <a:lnSpc>
                <a:spcPts val="1599"/>
              </a:lnSpc>
              <a:spcBef>
                <a:spcPct val="0"/>
              </a:spcBef>
            </a:pPr>
            <a:r>
              <a:rPr lang="en-US" sz="1142">
                <a:solidFill>
                  <a:srgbClr val="000000"/>
                </a:solidFill>
                <a:latin typeface="DM Sans"/>
                <a:ea typeface="DM Sans"/>
                <a:cs typeface="DM Sans"/>
                <a:sym typeface="DM Sans"/>
              </a:rPr>
              <a:t>3. Sample 29 | P09630 | ROUGE-L: 1.0000</a:t>
            </a:r>
          </a:p>
          <a:p>
            <a:pPr algn="just">
              <a:lnSpc>
                <a:spcPts val="1599"/>
              </a:lnSpc>
              <a:spcBef>
                <a:spcPct val="0"/>
              </a:spcBef>
            </a:pPr>
            <a:r>
              <a:rPr lang="en-US" sz="1142">
                <a:solidFill>
                  <a:srgbClr val="000000"/>
                </a:solidFill>
                <a:latin typeface="DM Sans"/>
                <a:ea typeface="DM Sans"/>
                <a:cs typeface="DM Sans"/>
                <a:sym typeface="DM Sans"/>
              </a:rPr>
              <a:t>   Protein: Homeobox protein Hox-C6</a:t>
            </a:r>
          </a:p>
          <a:p>
            <a:pPr algn="just">
              <a:lnSpc>
                <a:spcPts val="1599"/>
              </a:lnSpc>
              <a:spcBef>
                <a:spcPct val="0"/>
              </a:spcBef>
            </a:pPr>
            <a:r>
              <a:rPr lang="en-US" sz="1142">
                <a:solidFill>
                  <a:srgbClr val="000000"/>
                </a:solidFill>
                <a:latin typeface="DM Sans"/>
                <a:ea typeface="DM Sans"/>
                <a:cs typeface="DM Sans"/>
                <a:sym typeface="DM Sans"/>
              </a:rPr>
              <a:t>   </a:t>
            </a:r>
            <a:r>
              <a:rPr lang="en-US" b="true" sz="1142">
                <a:solidFill>
                  <a:srgbClr val="000000"/>
                </a:solidFill>
                <a:latin typeface="DM Sans Bold"/>
                <a:ea typeface="DM Sans Bold"/>
                <a:cs typeface="DM Sans Bold"/>
                <a:sym typeface="DM Sans Bold"/>
              </a:rPr>
              <a:t>Ground Truth:</a:t>
            </a:r>
            <a:r>
              <a:rPr lang="en-US" sz="1142">
                <a:solidFill>
                  <a:srgbClr val="000000"/>
                </a:solidFill>
                <a:latin typeface="DM Sans"/>
                <a:ea typeface="DM Sans"/>
                <a:cs typeface="DM Sans"/>
                <a:sym typeface="DM Sans"/>
              </a:rPr>
              <a:t> Sequence-specific transcription factor which is part of a developmental regulatory system that provides cells with specific positional identities on the anterior-posterior axis</a:t>
            </a:r>
          </a:p>
          <a:p>
            <a:pPr algn="just">
              <a:lnSpc>
                <a:spcPts val="1599"/>
              </a:lnSpc>
              <a:spcBef>
                <a:spcPct val="0"/>
              </a:spcBef>
            </a:pPr>
            <a:r>
              <a:rPr lang="en-US" sz="1142">
                <a:solidFill>
                  <a:srgbClr val="000000"/>
                </a:solidFill>
                <a:latin typeface="DM Sans"/>
                <a:ea typeface="DM Sans"/>
                <a:cs typeface="DM Sans"/>
                <a:sym typeface="DM Sans"/>
              </a:rPr>
              <a:t>   </a:t>
            </a:r>
            <a:r>
              <a:rPr lang="en-US" b="true" sz="1142">
                <a:solidFill>
                  <a:srgbClr val="000000"/>
                </a:solidFill>
                <a:latin typeface="DM Sans Bold"/>
                <a:ea typeface="DM Sans Bold"/>
                <a:cs typeface="DM Sans Bold"/>
                <a:sym typeface="DM Sans Bold"/>
              </a:rPr>
              <a:t>Prediction:</a:t>
            </a:r>
            <a:r>
              <a:rPr lang="en-US" sz="1142">
                <a:solidFill>
                  <a:srgbClr val="000000"/>
                </a:solidFill>
                <a:latin typeface="DM Sans"/>
                <a:ea typeface="DM Sans"/>
                <a:cs typeface="DM Sans"/>
                <a:sym typeface="DM Sans"/>
              </a:rPr>
              <a:t>   Sequence-specific transcription factor which is part of a developmental regulatory system that provides cells with specific positional identities on the anterior-posterior axis</a:t>
            </a:r>
          </a:p>
          <a:p>
            <a:pPr algn="just">
              <a:lnSpc>
                <a:spcPts val="1599"/>
              </a:lnSpc>
              <a:spcBef>
                <a:spcPct val="0"/>
              </a:spcBef>
            </a:pPr>
          </a:p>
        </p:txBody>
      </p:sp>
      <p:sp>
        <p:nvSpPr>
          <p:cNvPr name="TextBox 17" id="17"/>
          <p:cNvSpPr txBox="true"/>
          <p:nvPr/>
        </p:nvSpPr>
        <p:spPr>
          <a:xfrm rot="0">
            <a:off x="9594785" y="3157134"/>
            <a:ext cx="8537744" cy="5046170"/>
          </a:xfrm>
          <a:prstGeom prst="rect">
            <a:avLst/>
          </a:prstGeom>
        </p:spPr>
        <p:txBody>
          <a:bodyPr anchor="t" rtlCol="false" tIns="0" lIns="0" bIns="0" rIns="0">
            <a:spAutoFit/>
          </a:bodyPr>
          <a:lstStyle/>
          <a:p>
            <a:pPr algn="l">
              <a:lnSpc>
                <a:spcPts val="1760"/>
              </a:lnSpc>
              <a:spcBef>
                <a:spcPct val="0"/>
              </a:spcBef>
            </a:pPr>
            <a:r>
              <a:rPr lang="en-US" b="true" sz="1257">
                <a:solidFill>
                  <a:srgbClr val="000000"/>
                </a:solidFill>
                <a:latin typeface="DM Sans Bold"/>
                <a:ea typeface="DM Sans Bold"/>
                <a:cs typeface="DM Sans Bold"/>
                <a:sym typeface="DM Sans Bold"/>
              </a:rPr>
              <a:t>⚠️ BOTTOM 3 PREDICTIONS (by ROUGE-L):</a:t>
            </a:r>
          </a:p>
          <a:p>
            <a:pPr algn="l">
              <a:lnSpc>
                <a:spcPts val="1760"/>
              </a:lnSpc>
              <a:spcBef>
                <a:spcPct val="0"/>
              </a:spcBef>
            </a:pPr>
            <a:r>
              <a:rPr lang="en-US" sz="1257">
                <a:solidFill>
                  <a:srgbClr val="000000"/>
                </a:solidFill>
                <a:latin typeface="DM Sans"/>
                <a:ea typeface="DM Sans"/>
                <a:cs typeface="DM Sans"/>
                <a:sym typeface="DM Sans"/>
              </a:rPr>
              <a:t>--------------------------------------------------------------------------------</a:t>
            </a:r>
          </a:p>
          <a:p>
            <a:pPr algn="l">
              <a:lnSpc>
                <a:spcPts val="1760"/>
              </a:lnSpc>
              <a:spcBef>
                <a:spcPct val="0"/>
              </a:spcBef>
            </a:pPr>
            <a:r>
              <a:rPr lang="en-US" sz="1257">
                <a:solidFill>
                  <a:srgbClr val="000000"/>
                </a:solidFill>
                <a:latin typeface="DM Sans"/>
                <a:ea typeface="DM Sans"/>
                <a:cs typeface="DM Sans"/>
                <a:sym typeface="DM Sans"/>
              </a:rPr>
              <a:t>1. Sample 28 | P09093 | ROUGE-L: 0.0000</a:t>
            </a:r>
          </a:p>
          <a:p>
            <a:pPr algn="l">
              <a:lnSpc>
                <a:spcPts val="1760"/>
              </a:lnSpc>
              <a:spcBef>
                <a:spcPct val="0"/>
              </a:spcBef>
            </a:pPr>
            <a:r>
              <a:rPr lang="en-US" sz="1257">
                <a:solidFill>
                  <a:srgbClr val="000000"/>
                </a:solidFill>
                <a:latin typeface="DM Sans"/>
                <a:ea typeface="DM Sans"/>
                <a:cs typeface="DM Sans"/>
                <a:sym typeface="DM Sans"/>
              </a:rPr>
              <a:t> Protein: Chymotrypsin-like elastase family member 3A</a:t>
            </a:r>
          </a:p>
          <a:p>
            <a:pPr algn="l">
              <a:lnSpc>
                <a:spcPts val="1760"/>
              </a:lnSpc>
              <a:spcBef>
                <a:spcPct val="0"/>
              </a:spcBef>
            </a:pPr>
            <a:r>
              <a:rPr lang="en-US" sz="1257">
                <a:solidFill>
                  <a:srgbClr val="000000"/>
                </a:solidFill>
                <a:latin typeface="DM Sans"/>
                <a:ea typeface="DM Sans"/>
                <a:cs typeface="DM Sans"/>
                <a:sym typeface="DM Sans"/>
              </a:rPr>
              <a:t> </a:t>
            </a:r>
            <a:r>
              <a:rPr lang="en-US" b="true" sz="1257">
                <a:solidFill>
                  <a:srgbClr val="000000"/>
                </a:solidFill>
                <a:latin typeface="DM Sans Bold"/>
                <a:ea typeface="DM Sans Bold"/>
                <a:cs typeface="DM Sans Bold"/>
                <a:sym typeface="DM Sans Bold"/>
              </a:rPr>
              <a:t>Ground Truth</a:t>
            </a:r>
            <a:r>
              <a:rPr lang="en-US" sz="1257">
                <a:solidFill>
                  <a:srgbClr val="000000"/>
                </a:solidFill>
                <a:latin typeface="DM Sans"/>
                <a:ea typeface="DM Sans"/>
                <a:cs typeface="DM Sans"/>
                <a:sym typeface="DM Sans"/>
              </a:rPr>
              <a:t>: Efficient protease with alanine specificity but only little elastolytic activity</a:t>
            </a:r>
          </a:p>
          <a:p>
            <a:pPr algn="l">
              <a:lnSpc>
                <a:spcPts val="1760"/>
              </a:lnSpc>
              <a:spcBef>
                <a:spcPct val="0"/>
              </a:spcBef>
            </a:pPr>
            <a:r>
              <a:rPr lang="en-US" sz="1257">
                <a:solidFill>
                  <a:srgbClr val="000000"/>
                </a:solidFill>
                <a:latin typeface="DM Sans"/>
                <a:ea typeface="DM Sans"/>
                <a:cs typeface="DM Sans"/>
                <a:sym typeface="DM Sans"/>
              </a:rPr>
              <a:t> </a:t>
            </a:r>
            <a:r>
              <a:rPr lang="en-US" b="true" sz="1257">
                <a:solidFill>
                  <a:srgbClr val="000000"/>
                </a:solidFill>
                <a:latin typeface="DM Sans Bold"/>
                <a:ea typeface="DM Sans Bold"/>
                <a:cs typeface="DM Sans Bold"/>
                <a:sym typeface="DM Sans Bold"/>
              </a:rPr>
              <a:t>Prediction:</a:t>
            </a:r>
            <a:r>
              <a:rPr lang="en-US" sz="1257">
                <a:solidFill>
                  <a:srgbClr val="000000"/>
                </a:solidFill>
                <a:latin typeface="DM Sans"/>
                <a:ea typeface="DM Sans"/>
                <a:cs typeface="DM Sans"/>
                <a:sym typeface="DM Sans"/>
              </a:rPr>
              <a:t> Important role in determination of the surface properties of the casein micelles</a:t>
            </a:r>
          </a:p>
          <a:p>
            <a:pPr algn="l">
              <a:lnSpc>
                <a:spcPts val="1760"/>
              </a:lnSpc>
              <a:spcBef>
                <a:spcPct val="0"/>
              </a:spcBef>
            </a:pPr>
          </a:p>
          <a:p>
            <a:pPr algn="l">
              <a:lnSpc>
                <a:spcPts val="1760"/>
              </a:lnSpc>
              <a:spcBef>
                <a:spcPct val="0"/>
              </a:spcBef>
            </a:pPr>
            <a:r>
              <a:rPr lang="en-US" sz="1257">
                <a:solidFill>
                  <a:srgbClr val="000000"/>
                </a:solidFill>
                <a:latin typeface="DM Sans"/>
                <a:ea typeface="DM Sans"/>
                <a:cs typeface="DM Sans"/>
                <a:sym typeface="DM Sans"/>
              </a:rPr>
              <a:t>2. Sample 84 | Q6ZS72 | ROUGE-L: 0.0294</a:t>
            </a:r>
          </a:p>
          <a:p>
            <a:pPr algn="l">
              <a:lnSpc>
                <a:spcPts val="1760"/>
              </a:lnSpc>
              <a:spcBef>
                <a:spcPct val="0"/>
              </a:spcBef>
            </a:pPr>
            <a:r>
              <a:rPr lang="en-US" sz="1257">
                <a:solidFill>
                  <a:srgbClr val="000000"/>
                </a:solidFill>
                <a:latin typeface="DM Sans"/>
                <a:ea typeface="DM Sans"/>
                <a:cs typeface="DM Sans"/>
                <a:sym typeface="DM Sans"/>
              </a:rPr>
              <a:t> Protein: Protein PEAK3</a:t>
            </a:r>
          </a:p>
          <a:p>
            <a:pPr algn="l">
              <a:lnSpc>
                <a:spcPts val="1760"/>
              </a:lnSpc>
              <a:spcBef>
                <a:spcPct val="0"/>
              </a:spcBef>
            </a:pPr>
            <a:r>
              <a:rPr lang="en-US" sz="1257">
                <a:solidFill>
                  <a:srgbClr val="000000"/>
                </a:solidFill>
                <a:latin typeface="DM Sans"/>
                <a:ea typeface="DM Sans"/>
                <a:cs typeface="DM Sans"/>
                <a:sym typeface="DM Sans"/>
              </a:rPr>
              <a:t> </a:t>
            </a:r>
            <a:r>
              <a:rPr lang="en-US" b="true" sz="1257">
                <a:solidFill>
                  <a:srgbClr val="000000"/>
                </a:solidFill>
                <a:latin typeface="DM Sans Bold"/>
                <a:ea typeface="DM Sans Bold"/>
                <a:cs typeface="DM Sans Bold"/>
                <a:sym typeface="DM Sans Bold"/>
              </a:rPr>
              <a:t>Ground Truth</a:t>
            </a:r>
            <a:r>
              <a:rPr lang="en-US" sz="1257">
                <a:solidFill>
                  <a:srgbClr val="000000"/>
                </a:solidFill>
                <a:latin typeface="DM Sans"/>
                <a:ea typeface="DM Sans"/>
                <a:cs typeface="DM Sans"/>
                <a:sym typeface="DM Sans"/>
              </a:rPr>
              <a:t>: Probable catalytically inactive kinase (Probable). Interacts with CRK-II and antagonizes CRK-II-signaling. Prevents the formation of CRK-II-dependent membrane ruffling and lamellipodia-like extensions (PubMed:31311869)</a:t>
            </a:r>
          </a:p>
          <a:p>
            <a:pPr algn="l">
              <a:lnSpc>
                <a:spcPts val="1760"/>
              </a:lnSpc>
              <a:spcBef>
                <a:spcPct val="0"/>
              </a:spcBef>
            </a:pPr>
            <a:r>
              <a:rPr lang="en-US" b="true" sz="1257">
                <a:solidFill>
                  <a:srgbClr val="000000"/>
                </a:solidFill>
                <a:latin typeface="DM Sans Bold"/>
                <a:ea typeface="DM Sans Bold"/>
                <a:cs typeface="DM Sans Bold"/>
                <a:sym typeface="DM Sans Bold"/>
              </a:rPr>
              <a:t> Prediction: </a:t>
            </a:r>
            <a:r>
              <a:rPr lang="en-US" sz="1257">
                <a:solidFill>
                  <a:srgbClr val="000000"/>
                </a:solidFill>
                <a:latin typeface="DM Sans"/>
                <a:ea typeface="DM Sans"/>
                <a:cs typeface="DM Sans"/>
                <a:sym typeface="DM Sans"/>
              </a:rPr>
              <a:t>Transcription factor that binds to DNA at the consensus sequence 5-ACCAAAG-3 (By similarity). Acts as a transcriptional activator (By similarity). Binds cooperatively with POU3F2/BRN2 or POU3F1/ERR17 to gene promoters, which enhances transcriptional activation (By similarity).</a:t>
            </a:r>
          </a:p>
          <a:p>
            <a:pPr algn="l">
              <a:lnSpc>
                <a:spcPts val="1760"/>
              </a:lnSpc>
              <a:spcBef>
                <a:spcPct val="0"/>
              </a:spcBef>
            </a:pPr>
          </a:p>
          <a:p>
            <a:pPr algn="l">
              <a:lnSpc>
                <a:spcPts val="1760"/>
              </a:lnSpc>
              <a:spcBef>
                <a:spcPct val="0"/>
              </a:spcBef>
            </a:pPr>
            <a:r>
              <a:rPr lang="en-US" sz="1257">
                <a:solidFill>
                  <a:srgbClr val="000000"/>
                </a:solidFill>
                <a:latin typeface="DM Sans"/>
                <a:ea typeface="DM Sans"/>
                <a:cs typeface="DM Sans"/>
                <a:sym typeface="DM Sans"/>
              </a:rPr>
              <a:t>3. Sample 98 | Q8IVN3 | ROUGE-L: 0.0299</a:t>
            </a:r>
          </a:p>
          <a:p>
            <a:pPr algn="l">
              <a:lnSpc>
                <a:spcPts val="1760"/>
              </a:lnSpc>
              <a:spcBef>
                <a:spcPct val="0"/>
              </a:spcBef>
            </a:pPr>
            <a:r>
              <a:rPr lang="en-US" sz="1257">
                <a:solidFill>
                  <a:srgbClr val="000000"/>
                </a:solidFill>
                <a:latin typeface="DM Sans"/>
                <a:ea typeface="DM Sans"/>
                <a:cs typeface="DM Sans"/>
                <a:sym typeface="DM Sans"/>
              </a:rPr>
              <a:t> Protein: Musculoskeletal embryonic nuclear protein 1</a:t>
            </a:r>
          </a:p>
          <a:p>
            <a:pPr algn="l">
              <a:lnSpc>
                <a:spcPts val="1760"/>
              </a:lnSpc>
              <a:spcBef>
                <a:spcPct val="0"/>
              </a:spcBef>
            </a:pPr>
            <a:r>
              <a:rPr lang="en-US" sz="1257">
                <a:solidFill>
                  <a:srgbClr val="000000"/>
                </a:solidFill>
                <a:latin typeface="DM Sans"/>
                <a:ea typeface="DM Sans"/>
                <a:cs typeface="DM Sans"/>
                <a:sym typeface="DM Sans"/>
              </a:rPr>
              <a:t> </a:t>
            </a:r>
            <a:r>
              <a:rPr lang="en-US" b="true" sz="1257">
                <a:solidFill>
                  <a:srgbClr val="000000"/>
                </a:solidFill>
                <a:latin typeface="DM Sans Bold"/>
                <a:ea typeface="DM Sans Bold"/>
                <a:cs typeface="DM Sans Bold"/>
                <a:sym typeface="DM Sans Bold"/>
              </a:rPr>
              <a:t>Ground Truth</a:t>
            </a:r>
            <a:r>
              <a:rPr lang="en-US" sz="1257">
                <a:solidFill>
                  <a:srgbClr val="000000"/>
                </a:solidFill>
                <a:latin typeface="DM Sans"/>
                <a:ea typeface="DM Sans"/>
                <a:cs typeface="DM Sans"/>
                <a:sym typeface="DM Sans"/>
              </a:rPr>
              <a:t>: Required for chondrocyte development and proliferation. Plays a role in myoblast differentiation and fusion. Modulates skeletal muscle extracellular matrix composition.</a:t>
            </a:r>
          </a:p>
          <a:p>
            <a:pPr algn="l">
              <a:lnSpc>
                <a:spcPts val="1760"/>
              </a:lnSpc>
              <a:spcBef>
                <a:spcPct val="0"/>
              </a:spcBef>
            </a:pPr>
            <a:r>
              <a:rPr lang="en-US" sz="1257">
                <a:solidFill>
                  <a:srgbClr val="000000"/>
                </a:solidFill>
                <a:latin typeface="DM Sans"/>
                <a:ea typeface="DM Sans"/>
                <a:cs typeface="DM Sans"/>
                <a:sym typeface="DM Sans"/>
              </a:rPr>
              <a:t> </a:t>
            </a:r>
            <a:r>
              <a:rPr lang="en-US" b="true" sz="1257">
                <a:solidFill>
                  <a:srgbClr val="000000"/>
                </a:solidFill>
                <a:latin typeface="DM Sans Bold"/>
                <a:ea typeface="DM Sans Bold"/>
                <a:cs typeface="DM Sans Bold"/>
                <a:sym typeface="DM Sans Bold"/>
              </a:rPr>
              <a:t>Prediction</a:t>
            </a:r>
            <a:r>
              <a:rPr lang="en-US" sz="1257">
                <a:solidFill>
                  <a:srgbClr val="000000"/>
                </a:solidFill>
                <a:latin typeface="DM Sans"/>
                <a:ea typeface="DM Sans"/>
                <a:cs typeface="DM Sans"/>
                <a:sym typeface="DM Sans"/>
              </a:rPr>
              <a:t>: Accessory subunit of the mitochondrial membrane respiratory chain NADH dehydrogenase (Complex I), that is believed not to be involved in catalysis. Complex I functions in the transfer of electrons from NADH to the respiratory chain. The immediate electron acceptor for the enzyme is believed to be ubiquinone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491110" y="823660"/>
            <a:ext cx="16768190" cy="1063819"/>
          </a:xfrm>
          <a:prstGeom prst="rect">
            <a:avLst/>
          </a:prstGeom>
        </p:spPr>
        <p:txBody>
          <a:bodyPr anchor="t" rtlCol="false" tIns="0" lIns="0" bIns="0" rIns="0">
            <a:spAutoFit/>
          </a:bodyPr>
          <a:lstStyle/>
          <a:p>
            <a:pPr algn="ctr">
              <a:lnSpc>
                <a:spcPts val="7808"/>
              </a:lnSpc>
            </a:pPr>
            <a:r>
              <a:rPr lang="en-US" b="true" sz="8050">
                <a:solidFill>
                  <a:srgbClr val="000000"/>
                </a:solidFill>
                <a:latin typeface="DM Sans Bold"/>
                <a:ea typeface="DM Sans Bold"/>
                <a:cs typeface="DM Sans Bold"/>
                <a:sym typeface="DM Sans Bold"/>
              </a:rPr>
              <a:t>Key Innovations</a:t>
            </a:r>
          </a:p>
        </p:txBody>
      </p:sp>
      <p:sp>
        <p:nvSpPr>
          <p:cNvPr name="Freeform 3" id="3"/>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1" id="11"/>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2" id="12"/>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3" id="13"/>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4" id="14"/>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5" id="15"/>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6" id="16"/>
          <p:cNvSpPr txBox="true"/>
          <p:nvPr/>
        </p:nvSpPr>
        <p:spPr>
          <a:xfrm rot="0">
            <a:off x="4685463" y="2457450"/>
            <a:ext cx="8379484" cy="7023735"/>
          </a:xfrm>
          <a:prstGeom prst="rect">
            <a:avLst/>
          </a:prstGeom>
        </p:spPr>
        <p:txBody>
          <a:bodyPr anchor="t" rtlCol="false" tIns="0" lIns="0" bIns="0" rIns="0">
            <a:spAutoFit/>
          </a:bodyPr>
          <a:lstStyle/>
          <a:p>
            <a:pPr algn="l" marL="496567" indent="-248284" lvl="1">
              <a:lnSpc>
                <a:spcPts val="3104"/>
              </a:lnSpc>
              <a:buAutoNum type="arabicPeriod" startAt="1"/>
            </a:pPr>
            <a:r>
              <a:rPr lang="en-US" b="true" sz="2299" spc="137">
                <a:solidFill>
                  <a:srgbClr val="000000"/>
                </a:solidFill>
                <a:latin typeface="DM Sans Bold"/>
                <a:ea typeface="DM Sans Bold"/>
                <a:cs typeface="DM Sans Bold"/>
                <a:sym typeface="DM Sans Bold"/>
              </a:rPr>
              <a:t>Froz</a:t>
            </a:r>
            <a:r>
              <a:rPr lang="en-US" b="true" sz="2299" spc="137" u="none">
                <a:solidFill>
                  <a:srgbClr val="000000"/>
                </a:solidFill>
                <a:latin typeface="DM Sans Bold"/>
                <a:ea typeface="DM Sans Bold"/>
                <a:cs typeface="DM Sans Bold"/>
                <a:sym typeface="DM Sans Bold"/>
              </a:rPr>
              <a:t>en Encoder + Lightweight Projection</a:t>
            </a:r>
          </a:p>
          <a:p>
            <a:pPr algn="l" marL="1489702" indent="-372425" lvl="3">
              <a:lnSpc>
                <a:spcPts val="3104"/>
              </a:lnSpc>
              <a:buFont typeface="Arial"/>
              <a:buChar char="￭"/>
            </a:pPr>
            <a:r>
              <a:rPr lang="en-US" sz="2299" spc="137" u="none">
                <a:solidFill>
                  <a:srgbClr val="000000"/>
                </a:solidFill>
                <a:latin typeface="DM Sans"/>
                <a:ea typeface="DM Sans"/>
                <a:cs typeface="DM Sans"/>
                <a:sym typeface="DM Sans"/>
              </a:rPr>
              <a:t>P</a:t>
            </a:r>
            <a:r>
              <a:rPr lang="en-US" sz="2299" spc="137" u="none">
                <a:solidFill>
                  <a:srgbClr val="000000"/>
                </a:solidFill>
                <a:latin typeface="DM Sans"/>
                <a:ea typeface="DM Sans"/>
                <a:cs typeface="DM Sans"/>
                <a:sym typeface="DM Sans"/>
              </a:rPr>
              <a:t>reserves ESM-2's powerful representations</a:t>
            </a:r>
          </a:p>
          <a:p>
            <a:pPr algn="l" marL="1489702" indent="-372425" lvl="3">
              <a:lnSpc>
                <a:spcPts val="3104"/>
              </a:lnSpc>
              <a:buFont typeface="Arial"/>
              <a:buChar char="￭"/>
            </a:pPr>
            <a:r>
              <a:rPr lang="en-US" sz="2299" spc="137" u="none">
                <a:solidFill>
                  <a:srgbClr val="000000"/>
                </a:solidFill>
                <a:latin typeface="DM Sans"/>
                <a:ea typeface="DM Sans"/>
                <a:cs typeface="DM Sans"/>
                <a:sym typeface="DM Sans"/>
              </a:rPr>
              <a:t>Only 8.4M trainabl</a:t>
            </a:r>
            <a:r>
              <a:rPr lang="en-US" sz="2299" spc="137" u="none">
                <a:solidFill>
                  <a:srgbClr val="000000"/>
                </a:solidFill>
                <a:latin typeface="DM Sans"/>
                <a:ea typeface="DM Sans"/>
                <a:cs typeface="DM Sans"/>
                <a:sym typeface="DM Sans"/>
              </a:rPr>
              <a:t>e parameters in projection</a:t>
            </a:r>
          </a:p>
          <a:p>
            <a:pPr algn="l" marL="0" indent="0" lvl="0">
              <a:lnSpc>
                <a:spcPts val="3104"/>
              </a:lnSpc>
              <a:spcBef>
                <a:spcPct val="0"/>
              </a:spcBef>
            </a:pPr>
          </a:p>
          <a:p>
            <a:pPr algn="l" marL="496567" indent="-248284" lvl="1">
              <a:lnSpc>
                <a:spcPts val="3104"/>
              </a:lnSpc>
              <a:spcBef>
                <a:spcPct val="0"/>
              </a:spcBef>
              <a:buAutoNum type="arabicPeriod" startAt="1"/>
            </a:pPr>
            <a:r>
              <a:rPr lang="en-US" b="true" sz="2299" spc="137" u="none">
                <a:solidFill>
                  <a:srgbClr val="000000"/>
                </a:solidFill>
                <a:latin typeface="DM Sans Bold"/>
                <a:ea typeface="DM Sans Bold"/>
                <a:cs typeface="DM Sans Bold"/>
                <a:sym typeface="DM Sans Bold"/>
              </a:rPr>
              <a:t>Multi-Task Training Objective</a:t>
            </a:r>
          </a:p>
          <a:p>
            <a:pPr algn="l" marL="1489702" indent="-372425" lvl="3">
              <a:lnSpc>
                <a:spcPts val="3104"/>
              </a:lnSpc>
              <a:buFont typeface="Arial"/>
              <a:buChar char="￭"/>
            </a:pPr>
            <a:r>
              <a:rPr lang="en-US" sz="2299" spc="137" u="none">
                <a:solidFill>
                  <a:srgbClr val="000000"/>
                </a:solidFill>
                <a:latin typeface="DM Sans"/>
                <a:ea typeface="DM Sans"/>
                <a:cs typeface="DM Sans"/>
                <a:sym typeface="DM Sans"/>
              </a:rPr>
              <a:t>Al</a:t>
            </a:r>
            <a:r>
              <a:rPr lang="en-US" sz="2299" spc="137" u="none">
                <a:solidFill>
                  <a:srgbClr val="000000"/>
                </a:solidFill>
                <a:latin typeface="DM Sans"/>
                <a:ea typeface="DM Sans"/>
                <a:cs typeface="DM Sans"/>
                <a:sym typeface="DM Sans"/>
              </a:rPr>
              <a:t>ignment ensures semantic correspondence</a:t>
            </a:r>
          </a:p>
          <a:p>
            <a:pPr algn="l" marL="1489702" indent="-372425" lvl="3">
              <a:lnSpc>
                <a:spcPts val="3104"/>
              </a:lnSpc>
              <a:buFont typeface="Arial"/>
              <a:buChar char="￭"/>
            </a:pPr>
            <a:r>
              <a:rPr lang="en-US" sz="2299" spc="137" u="none">
                <a:solidFill>
                  <a:srgbClr val="000000"/>
                </a:solidFill>
                <a:latin typeface="DM Sans"/>
                <a:ea typeface="DM Sans"/>
                <a:cs typeface="DM Sans"/>
                <a:sym typeface="DM Sans"/>
              </a:rPr>
              <a:t>C</a:t>
            </a:r>
            <a:r>
              <a:rPr lang="en-US" sz="2299" spc="137" u="none">
                <a:solidFill>
                  <a:srgbClr val="000000"/>
                </a:solidFill>
                <a:latin typeface="DM Sans"/>
                <a:ea typeface="DM Sans"/>
                <a:cs typeface="DM Sans"/>
                <a:sym typeface="DM Sans"/>
              </a:rPr>
              <a:t>ontrastive learning improves discriminability</a:t>
            </a:r>
          </a:p>
          <a:p>
            <a:pPr algn="l" marL="0" indent="0" lvl="0">
              <a:lnSpc>
                <a:spcPts val="3104"/>
              </a:lnSpc>
              <a:spcBef>
                <a:spcPct val="0"/>
              </a:spcBef>
            </a:pPr>
          </a:p>
          <a:p>
            <a:pPr algn="l" marL="496567" indent="-248284" lvl="1">
              <a:lnSpc>
                <a:spcPts val="3104"/>
              </a:lnSpc>
              <a:spcBef>
                <a:spcPct val="0"/>
              </a:spcBef>
              <a:buAutoNum type="arabicPeriod" startAt="1"/>
            </a:pPr>
            <a:r>
              <a:rPr lang="en-US" b="true" sz="2299" spc="137" u="none">
                <a:solidFill>
                  <a:srgbClr val="000000"/>
                </a:solidFill>
                <a:latin typeface="DM Sans Bold"/>
                <a:ea typeface="DM Sans Bold"/>
                <a:cs typeface="DM Sans Bold"/>
                <a:sym typeface="DM Sans Bold"/>
              </a:rPr>
              <a:t>Prefix-Based Integration</a:t>
            </a:r>
          </a:p>
          <a:p>
            <a:pPr algn="l" marL="1489702" indent="-372425" lvl="3">
              <a:lnSpc>
                <a:spcPts val="3104"/>
              </a:lnSpc>
              <a:buFont typeface="Arial"/>
              <a:buChar char="￭"/>
            </a:pPr>
            <a:r>
              <a:rPr lang="en-US" sz="2299" spc="137" u="none">
                <a:solidFill>
                  <a:srgbClr val="000000"/>
                </a:solidFill>
                <a:latin typeface="DM Sans"/>
                <a:ea typeface="DM Sans"/>
                <a:cs typeface="DM Sans"/>
                <a:sym typeface="DM Sans"/>
              </a:rPr>
              <a:t>Clean separation of protein and text modalities</a:t>
            </a:r>
          </a:p>
          <a:p>
            <a:pPr algn="l" marL="1489702" indent="-372425" lvl="3">
              <a:lnSpc>
                <a:spcPts val="3104"/>
              </a:lnSpc>
              <a:buFont typeface="Arial"/>
              <a:buChar char="￭"/>
            </a:pPr>
            <a:r>
              <a:rPr lang="en-US" sz="2299" spc="137" u="none">
                <a:solidFill>
                  <a:srgbClr val="000000"/>
                </a:solidFill>
                <a:latin typeface="DM Sans"/>
                <a:ea typeface="DM Sans"/>
                <a:cs typeface="DM Sans"/>
                <a:sym typeface="DM Sans"/>
              </a:rPr>
              <a:t>En</a:t>
            </a:r>
            <a:r>
              <a:rPr lang="en-US" sz="2299" spc="137" u="none">
                <a:solidFill>
                  <a:srgbClr val="000000"/>
                </a:solidFill>
                <a:latin typeface="DM Sans"/>
                <a:ea typeface="DM Sans"/>
                <a:cs typeface="DM Sans"/>
                <a:sym typeface="DM Sans"/>
              </a:rPr>
              <a:t>ables flexible generation at inference</a:t>
            </a:r>
          </a:p>
          <a:p>
            <a:pPr algn="l">
              <a:lnSpc>
                <a:spcPts val="3104"/>
              </a:lnSpc>
            </a:pPr>
          </a:p>
          <a:p>
            <a:pPr algn="l" marL="496567" indent="-248284" lvl="1">
              <a:lnSpc>
                <a:spcPts val="3104"/>
              </a:lnSpc>
              <a:buAutoNum type="arabicPeriod" startAt="1"/>
            </a:pPr>
            <a:r>
              <a:rPr lang="en-US" b="true" sz="2299" spc="137" u="none">
                <a:solidFill>
                  <a:srgbClr val="000000"/>
                </a:solidFill>
                <a:latin typeface="DM Sans Bold"/>
                <a:ea typeface="DM Sans Bold"/>
                <a:cs typeface="DM Sans Bold"/>
                <a:sym typeface="DM Sans Bold"/>
              </a:rPr>
              <a:t>Efficient Fine-Tuning with LoRA</a:t>
            </a:r>
          </a:p>
          <a:p>
            <a:pPr algn="l" marL="1489702" indent="-372425" lvl="3">
              <a:lnSpc>
                <a:spcPts val="3104"/>
              </a:lnSpc>
              <a:buFont typeface="Arial"/>
              <a:buChar char="￭"/>
            </a:pPr>
            <a:r>
              <a:rPr lang="en-US" sz="2299" spc="137" u="none">
                <a:solidFill>
                  <a:srgbClr val="000000"/>
                </a:solidFill>
                <a:latin typeface="DM Sans"/>
                <a:ea typeface="DM Sans"/>
                <a:cs typeface="DM Sans"/>
                <a:sym typeface="DM Sans"/>
              </a:rPr>
              <a:t>Reduces trainable parameters by 99%+</a:t>
            </a:r>
          </a:p>
          <a:p>
            <a:pPr algn="l" marL="1489702" indent="-372425" lvl="3">
              <a:lnSpc>
                <a:spcPts val="3104"/>
              </a:lnSpc>
              <a:buFont typeface="Arial"/>
              <a:buChar char="￭"/>
            </a:pPr>
            <a:r>
              <a:rPr lang="en-US" sz="2299" spc="137" u="none">
                <a:solidFill>
                  <a:srgbClr val="000000"/>
                </a:solidFill>
                <a:latin typeface="DM Sans"/>
                <a:ea typeface="DM Sans"/>
                <a:cs typeface="DM Sans"/>
                <a:sym typeface="DM Sans"/>
              </a:rPr>
              <a:t>Maintains generation quality</a:t>
            </a:r>
          </a:p>
          <a:p>
            <a:pPr algn="l" marL="0" indent="0" lvl="0">
              <a:lnSpc>
                <a:spcPts val="3104"/>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0819907" y="1950456"/>
            <a:ext cx="4208573" cy="4247184"/>
          </a:xfrm>
          <a:custGeom>
            <a:avLst/>
            <a:gdLst/>
            <a:ahLst/>
            <a:cxnLst/>
            <a:rect r="r" b="b" t="t" l="l"/>
            <a:pathLst>
              <a:path h="4247184" w="4208573">
                <a:moveTo>
                  <a:pt x="0" y="0"/>
                </a:moveTo>
                <a:lnTo>
                  <a:pt x="4208573" y="0"/>
                </a:lnTo>
                <a:lnTo>
                  <a:pt x="4208573" y="4247184"/>
                </a:lnTo>
                <a:lnTo>
                  <a:pt x="0" y="4247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256115" y="2639048"/>
            <a:ext cx="7181225" cy="5008904"/>
          </a:xfrm>
          <a:custGeom>
            <a:avLst/>
            <a:gdLst/>
            <a:ahLst/>
            <a:cxnLst/>
            <a:rect r="r" b="b" t="t" l="l"/>
            <a:pathLst>
              <a:path h="5008904" w="7181225">
                <a:moveTo>
                  <a:pt x="0" y="0"/>
                </a:moveTo>
                <a:lnTo>
                  <a:pt x="7181225" y="0"/>
                </a:lnTo>
                <a:lnTo>
                  <a:pt x="7181225" y="5008904"/>
                </a:lnTo>
                <a:lnTo>
                  <a:pt x="0" y="50089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904611"/>
            <a:ext cx="10487265" cy="22821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Future Improvements</a:t>
            </a:r>
          </a:p>
        </p:txBody>
      </p:sp>
      <p:sp>
        <p:nvSpPr>
          <p:cNvPr name="TextBox 5" id="5"/>
          <p:cNvSpPr txBox="true"/>
          <p:nvPr/>
        </p:nvSpPr>
        <p:spPr>
          <a:xfrm rot="0">
            <a:off x="1028700" y="4035948"/>
            <a:ext cx="7707571" cy="3343275"/>
          </a:xfrm>
          <a:prstGeom prst="rect">
            <a:avLst/>
          </a:prstGeom>
        </p:spPr>
        <p:txBody>
          <a:bodyPr anchor="t" rtlCol="false" tIns="0" lIns="0" bIns="0" rIns="0">
            <a:spAutoFit/>
          </a:bodyPr>
          <a:lstStyle/>
          <a:p>
            <a:pPr algn="l" marL="539746" indent="-269873" lvl="1">
              <a:lnSpc>
                <a:spcPts val="3374"/>
              </a:lnSpc>
              <a:buFont typeface="Arial"/>
              <a:buChar char="•"/>
            </a:pPr>
            <a:r>
              <a:rPr lang="en-US" sz="2499" spc="149">
                <a:solidFill>
                  <a:srgbClr val="000000"/>
                </a:solidFill>
                <a:latin typeface="DM Sans"/>
                <a:ea typeface="DM Sans"/>
                <a:cs typeface="DM Sans"/>
                <a:sym typeface="DM Sans"/>
              </a:rPr>
              <a:t>Expand training data to incorporate rare protein families</a:t>
            </a:r>
          </a:p>
          <a:p>
            <a:pPr algn="l">
              <a:lnSpc>
                <a:spcPts val="3374"/>
              </a:lnSpc>
            </a:pPr>
          </a:p>
          <a:p>
            <a:pPr algn="l" marL="539746" indent="-269873" lvl="1">
              <a:lnSpc>
                <a:spcPts val="3374"/>
              </a:lnSpc>
              <a:buFont typeface="Arial"/>
              <a:buChar char="•"/>
            </a:pPr>
            <a:r>
              <a:rPr lang="en-US" sz="2499" spc="149">
                <a:solidFill>
                  <a:srgbClr val="000000"/>
                </a:solidFill>
                <a:latin typeface="DM Sans"/>
                <a:ea typeface="DM Sans"/>
                <a:cs typeface="DM Sans"/>
                <a:sym typeface="DM Sans"/>
              </a:rPr>
              <a:t>Implement confidence scoring for predictions</a:t>
            </a:r>
          </a:p>
          <a:p>
            <a:pPr algn="l">
              <a:lnSpc>
                <a:spcPts val="3374"/>
              </a:lnSpc>
            </a:pPr>
          </a:p>
          <a:p>
            <a:pPr algn="l" marL="539746" indent="-269873" lvl="1">
              <a:lnSpc>
                <a:spcPts val="3374"/>
              </a:lnSpc>
              <a:buFont typeface="Arial"/>
              <a:buChar char="•"/>
            </a:pPr>
            <a:r>
              <a:rPr lang="en-US" sz="2499" spc="149">
                <a:solidFill>
                  <a:srgbClr val="000000"/>
                </a:solidFill>
                <a:latin typeface="DM Sans"/>
                <a:ea typeface="DM Sans"/>
                <a:cs typeface="DM Sans"/>
                <a:sym typeface="DM Sans"/>
              </a:rPr>
              <a:t>Architecture upgrade: to handle long sequences; multi-domain proteins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423406" y="1364587"/>
            <a:ext cx="6818130" cy="7001931"/>
          </a:xfrm>
          <a:custGeom>
            <a:avLst/>
            <a:gdLst/>
            <a:ahLst/>
            <a:cxnLst/>
            <a:rect r="r" b="b" t="t" l="l"/>
            <a:pathLst>
              <a:path h="7001931" w="6818130">
                <a:moveTo>
                  <a:pt x="0" y="0"/>
                </a:moveTo>
                <a:lnTo>
                  <a:pt x="6818130" y="0"/>
                </a:lnTo>
                <a:lnTo>
                  <a:pt x="6818130" y="7001931"/>
                </a:lnTo>
                <a:lnTo>
                  <a:pt x="0" y="7001931"/>
                </a:lnTo>
                <a:lnTo>
                  <a:pt x="0" y="0"/>
                </a:lnTo>
                <a:close/>
              </a:path>
            </a:pathLst>
          </a:custGeom>
          <a:blipFill>
            <a:blip r:embed="rId2"/>
            <a:stretch>
              <a:fillRect l="0" t="0" r="0" b="0"/>
            </a:stretch>
          </a:blipFill>
        </p:spPr>
      </p:sp>
      <p:sp>
        <p:nvSpPr>
          <p:cNvPr name="TextBox 3" id="3"/>
          <p:cNvSpPr txBox="true"/>
          <p:nvPr/>
        </p:nvSpPr>
        <p:spPr>
          <a:xfrm rot="0">
            <a:off x="5993091" y="268578"/>
            <a:ext cx="12294909" cy="1096009"/>
          </a:xfrm>
          <a:prstGeom prst="rect">
            <a:avLst/>
          </a:prstGeom>
        </p:spPr>
        <p:txBody>
          <a:bodyPr anchor="t" rtlCol="false" tIns="0" lIns="0" bIns="0" rIns="0">
            <a:spAutoFit/>
          </a:bodyPr>
          <a:lstStyle/>
          <a:p>
            <a:pPr algn="ctr">
              <a:lnSpc>
                <a:spcPts val="8244"/>
              </a:lnSpc>
            </a:pPr>
            <a:r>
              <a:rPr lang="en-US" b="true" sz="8499">
                <a:solidFill>
                  <a:srgbClr val="000000"/>
                </a:solidFill>
                <a:latin typeface="DM Sans Bold"/>
                <a:ea typeface="DM Sans Bold"/>
                <a:cs typeface="DM Sans Bold"/>
                <a:sym typeface="DM Sans Bold"/>
              </a:rPr>
              <a:t>References</a:t>
            </a:r>
          </a:p>
        </p:txBody>
      </p:sp>
      <p:sp>
        <p:nvSpPr>
          <p:cNvPr name="TextBox 4" id="4"/>
          <p:cNvSpPr txBox="true"/>
          <p:nvPr/>
        </p:nvSpPr>
        <p:spPr>
          <a:xfrm rot="0">
            <a:off x="7415242" y="1666688"/>
            <a:ext cx="9844058" cy="1247775"/>
          </a:xfrm>
          <a:prstGeom prst="rect">
            <a:avLst/>
          </a:prstGeom>
        </p:spPr>
        <p:txBody>
          <a:bodyPr anchor="t" rtlCol="false" tIns="0" lIns="0" bIns="0" rIns="0">
            <a:spAutoFit/>
          </a:bodyPr>
          <a:lstStyle/>
          <a:p>
            <a:pPr algn="l" marL="539749" indent="-269875" lvl="1">
              <a:lnSpc>
                <a:spcPts val="3374"/>
              </a:lnSpc>
              <a:buFont typeface="Arial"/>
              <a:buChar char="•"/>
            </a:pPr>
            <a:r>
              <a:rPr lang="en-US" sz="2499" spc="149" u="sng">
                <a:solidFill>
                  <a:srgbClr val="000000"/>
                </a:solidFill>
                <a:latin typeface="DM Sans"/>
                <a:ea typeface="DM Sans"/>
                <a:cs typeface="DM Sans"/>
                <a:sym typeface="DM Sans"/>
                <a:hlinkClick r:id="rId3" tooltip="https://arxiv.org/html/2409.14993v1#bib"/>
              </a:rPr>
              <a:t>Chen, Hong, et al. "Multi-Modal Generative AI: Multi-modal LLM, Diffusion and Beyond." arXiv preprint arXiv:2409.14993 (2024)</a:t>
            </a:r>
          </a:p>
        </p:txBody>
      </p:sp>
      <p:sp>
        <p:nvSpPr>
          <p:cNvPr name="Freeform 5" id="5"/>
          <p:cNvSpPr/>
          <p:nvPr/>
        </p:nvSpPr>
        <p:spPr>
          <a:xfrm flipH="false" flipV="false" rot="-10800000">
            <a:off x="-184675" y="8531826"/>
            <a:ext cx="4017146" cy="3158481"/>
          </a:xfrm>
          <a:custGeom>
            <a:avLst/>
            <a:gdLst/>
            <a:ahLst/>
            <a:cxnLst/>
            <a:rect r="r" b="b" t="t" l="l"/>
            <a:pathLst>
              <a:path h="3158481" w="4017146">
                <a:moveTo>
                  <a:pt x="0" y="0"/>
                </a:moveTo>
                <a:lnTo>
                  <a:pt x="4017146" y="0"/>
                </a:lnTo>
                <a:lnTo>
                  <a:pt x="4017146" y="3158481"/>
                </a:lnTo>
                <a:lnTo>
                  <a:pt x="0" y="3158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17083183" y="-573952"/>
            <a:ext cx="1488463" cy="1602652"/>
          </a:xfrm>
          <a:custGeom>
            <a:avLst/>
            <a:gdLst/>
            <a:ahLst/>
            <a:cxnLst/>
            <a:rect r="r" b="b" t="t" l="l"/>
            <a:pathLst>
              <a:path h="1602652" w="1488463">
                <a:moveTo>
                  <a:pt x="0" y="0"/>
                </a:moveTo>
                <a:lnTo>
                  <a:pt x="1488463" y="0"/>
                </a:lnTo>
                <a:lnTo>
                  <a:pt x="1488463" y="1602652"/>
                </a:lnTo>
                <a:lnTo>
                  <a:pt x="0" y="16026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3475158">
            <a:off x="13299611" y="7075374"/>
            <a:ext cx="7567145" cy="2582288"/>
          </a:xfrm>
          <a:custGeom>
            <a:avLst/>
            <a:gdLst/>
            <a:ahLst/>
            <a:cxnLst/>
            <a:rect r="r" b="b" t="t" l="l"/>
            <a:pathLst>
              <a:path h="2582288" w="7567145">
                <a:moveTo>
                  <a:pt x="0" y="0"/>
                </a:moveTo>
                <a:lnTo>
                  <a:pt x="7567144" y="0"/>
                </a:lnTo>
                <a:lnTo>
                  <a:pt x="7567144" y="2582288"/>
                </a:lnTo>
                <a:lnTo>
                  <a:pt x="0" y="25822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0">
            <a:off x="3832471" y="-965889"/>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7415242" y="3240682"/>
            <a:ext cx="9437876" cy="860425"/>
          </a:xfrm>
          <a:prstGeom prst="rect">
            <a:avLst/>
          </a:prstGeom>
        </p:spPr>
        <p:txBody>
          <a:bodyPr anchor="t" rtlCol="false" tIns="0" lIns="0" bIns="0" rIns="0">
            <a:spAutoFit/>
          </a:bodyPr>
          <a:lstStyle/>
          <a:p>
            <a:pPr algn="l" marL="539749" indent="-269875" lvl="1">
              <a:lnSpc>
                <a:spcPts val="3499"/>
              </a:lnSpc>
              <a:buFont typeface="Arial"/>
              <a:buChar char="•"/>
            </a:pPr>
            <a:r>
              <a:rPr lang="en-US" sz="2499" u="sng">
                <a:solidFill>
                  <a:srgbClr val="000000"/>
                </a:solidFill>
                <a:latin typeface="DM Sans"/>
                <a:ea typeface="DM Sans"/>
                <a:cs typeface="DM Sans"/>
                <a:sym typeface="DM Sans"/>
                <a:hlinkClick r:id="rId12" tooltip="https://www.biorxiv.org/content/10.1101/2022.07.20.500902v1"/>
              </a:rPr>
              <a:t>Lin, Z., et al. (2022). "Language models of protein sequences at the scale of evolution." bioRxiv. Meta AI.</a:t>
            </a:r>
          </a:p>
        </p:txBody>
      </p:sp>
      <p:sp>
        <p:nvSpPr>
          <p:cNvPr name="TextBox 10" id="10"/>
          <p:cNvSpPr txBox="true"/>
          <p:nvPr/>
        </p:nvSpPr>
        <p:spPr>
          <a:xfrm rot="0">
            <a:off x="7415242" y="4483737"/>
            <a:ext cx="9067651" cy="860425"/>
          </a:xfrm>
          <a:prstGeom prst="rect">
            <a:avLst/>
          </a:prstGeom>
        </p:spPr>
        <p:txBody>
          <a:bodyPr anchor="t" rtlCol="false" tIns="0" lIns="0" bIns="0" rIns="0">
            <a:spAutoFit/>
          </a:bodyPr>
          <a:lstStyle/>
          <a:p>
            <a:pPr algn="l" marL="539749" indent="-269875" lvl="1">
              <a:lnSpc>
                <a:spcPts val="3499"/>
              </a:lnSpc>
              <a:buFont typeface="Arial"/>
              <a:buChar char="•"/>
            </a:pPr>
            <a:r>
              <a:rPr lang="en-US" sz="2499" u="sng">
                <a:solidFill>
                  <a:srgbClr val="000000"/>
                </a:solidFill>
                <a:latin typeface="DM Sans"/>
                <a:ea typeface="DM Sans"/>
                <a:cs typeface="DM Sans"/>
                <a:sym typeface="DM Sans"/>
                <a:hlinkClick r:id="rId13" tooltip="https://www.microsoft.com/en-us/research/blog/phi-2-the-surprising-power-of-small-language-models/"/>
              </a:rPr>
              <a:t>Micros</a:t>
            </a:r>
            <a:r>
              <a:rPr lang="en-US" sz="2499" u="sng">
                <a:solidFill>
                  <a:srgbClr val="000000"/>
                </a:solidFill>
                <a:latin typeface="DM Sans"/>
                <a:ea typeface="DM Sans"/>
                <a:cs typeface="DM Sans"/>
                <a:sym typeface="DM Sans"/>
                <a:hlinkClick r:id="rId14" tooltip="https://www.microsoft.com/en-us/research/blog/phi-2-the-surprising-power-of-small-language-models/"/>
              </a:rPr>
              <a:t>oft Research (2023). "Phi-2: The surprising power of small language models." Microsoft.</a:t>
            </a:r>
          </a:p>
        </p:txBody>
      </p:sp>
      <p:sp>
        <p:nvSpPr>
          <p:cNvPr name="TextBox 11" id="11"/>
          <p:cNvSpPr txBox="true"/>
          <p:nvPr/>
        </p:nvSpPr>
        <p:spPr>
          <a:xfrm rot="0">
            <a:off x="7415242" y="5725162"/>
            <a:ext cx="9844058" cy="1298575"/>
          </a:xfrm>
          <a:prstGeom prst="rect">
            <a:avLst/>
          </a:prstGeom>
        </p:spPr>
        <p:txBody>
          <a:bodyPr anchor="t" rtlCol="false" tIns="0" lIns="0" bIns="0" rIns="0">
            <a:spAutoFit/>
          </a:bodyPr>
          <a:lstStyle/>
          <a:p>
            <a:pPr algn="l" marL="539749" indent="-269875" lvl="1">
              <a:lnSpc>
                <a:spcPts val="3499"/>
              </a:lnSpc>
              <a:buFont typeface="Arial"/>
              <a:buChar char="•"/>
            </a:pPr>
            <a:r>
              <a:rPr lang="en-US" sz="2499" u="sng">
                <a:solidFill>
                  <a:srgbClr val="000000"/>
                </a:solidFill>
                <a:latin typeface="DM Sans"/>
                <a:ea typeface="DM Sans"/>
                <a:cs typeface="DM Sans"/>
                <a:sym typeface="DM Sans"/>
                <a:hlinkClick r:id="rId15" tooltip="https://arxiv.org/abs/2201.12086"/>
              </a:rPr>
              <a:t>Li, J., et al. (2022). "BLIP: Bo</a:t>
            </a:r>
            <a:r>
              <a:rPr lang="en-US" sz="2499" u="sng">
                <a:solidFill>
                  <a:srgbClr val="000000"/>
                </a:solidFill>
                <a:latin typeface="DM Sans"/>
                <a:ea typeface="DM Sans"/>
                <a:cs typeface="DM Sans"/>
                <a:sym typeface="DM Sans"/>
                <a:hlinkClick r:id="rId16" tooltip="https://arxiv.org/abs/2201.12086"/>
              </a:rPr>
              <a:t>otstrapping Language-Image Pre-training for Unified Vision-Language Understanding and Generation." ICML.</a:t>
            </a:r>
          </a:p>
        </p:txBody>
      </p:sp>
      <p:sp>
        <p:nvSpPr>
          <p:cNvPr name="TextBox 12" id="12"/>
          <p:cNvSpPr txBox="true"/>
          <p:nvPr/>
        </p:nvSpPr>
        <p:spPr>
          <a:xfrm rot="0">
            <a:off x="7415242" y="7347587"/>
            <a:ext cx="9437876" cy="860425"/>
          </a:xfrm>
          <a:prstGeom prst="rect">
            <a:avLst/>
          </a:prstGeom>
        </p:spPr>
        <p:txBody>
          <a:bodyPr anchor="t" rtlCol="false" tIns="0" lIns="0" bIns="0" rIns="0">
            <a:spAutoFit/>
          </a:bodyPr>
          <a:lstStyle/>
          <a:p>
            <a:pPr algn="l" marL="539749" indent="-269875" lvl="1">
              <a:lnSpc>
                <a:spcPts val="3499"/>
              </a:lnSpc>
              <a:buFont typeface="Arial"/>
              <a:buChar char="•"/>
            </a:pPr>
            <a:r>
              <a:rPr lang="en-US" sz="2499" u="sng">
                <a:solidFill>
                  <a:srgbClr val="000000"/>
                </a:solidFill>
                <a:latin typeface="DM Sans"/>
                <a:ea typeface="DM Sans"/>
                <a:cs typeface="DM Sans"/>
                <a:sym typeface="DM Sans"/>
                <a:hlinkClick r:id="rId17" tooltip="https://arxiv.org/html/2502.06881v1"/>
              </a:rPr>
              <a:t>Wang, Lei, et al. "A C</a:t>
            </a:r>
            <a:r>
              <a:rPr lang="en-US" sz="2499" u="sng">
                <a:solidFill>
                  <a:srgbClr val="000000"/>
                </a:solidFill>
                <a:latin typeface="DM Sans"/>
                <a:ea typeface="DM Sans"/>
                <a:cs typeface="DM Sans"/>
                <a:sym typeface="DM Sans"/>
                <a:hlinkClick r:id="rId18" tooltip="https://arxiv.org/html/2502.06881v1"/>
              </a:rPr>
              <a:t>omprehensive Review of Protein Language Models." arXiv preprint arXiv:2502.06881 (2025)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4831481" y="2357912"/>
            <a:ext cx="8488268" cy="1366382"/>
          </a:xfrm>
          <a:prstGeom prst="rect">
            <a:avLst/>
          </a:prstGeom>
        </p:spPr>
        <p:txBody>
          <a:bodyPr anchor="t" rtlCol="false" tIns="0" lIns="0" bIns="0" rIns="0">
            <a:spAutoFit/>
          </a:bodyPr>
          <a:lstStyle/>
          <a:p>
            <a:pPr algn="ctr">
              <a:lnSpc>
                <a:spcPts val="9880"/>
              </a:lnSpc>
            </a:pPr>
            <a:r>
              <a:rPr lang="en-US" b="true" sz="11356">
                <a:solidFill>
                  <a:srgbClr val="000000"/>
                </a:solidFill>
                <a:latin typeface="DM Sans Bold"/>
                <a:ea typeface="DM Sans Bold"/>
                <a:cs typeface="DM Sans Bold"/>
                <a:sym typeface="DM Sans Bold"/>
              </a:rPr>
              <a:t>Thank you!</a:t>
            </a:r>
          </a:p>
        </p:txBody>
      </p:sp>
      <p:sp>
        <p:nvSpPr>
          <p:cNvPr name="TextBox 16" id="16"/>
          <p:cNvSpPr txBox="true"/>
          <p:nvPr/>
        </p:nvSpPr>
        <p:spPr>
          <a:xfrm rot="0">
            <a:off x="5535513" y="4464687"/>
            <a:ext cx="7216973" cy="1057275"/>
          </a:xfrm>
          <a:prstGeom prst="rect">
            <a:avLst/>
          </a:prstGeom>
        </p:spPr>
        <p:txBody>
          <a:bodyPr anchor="t" rtlCol="false" tIns="0" lIns="0" bIns="0" rIns="0">
            <a:spAutoFit/>
          </a:bodyPr>
          <a:lstStyle/>
          <a:p>
            <a:pPr algn="ctr">
              <a:lnSpc>
                <a:spcPts val="4200"/>
              </a:lnSpc>
            </a:pPr>
            <a:r>
              <a:rPr lang="en-US" sz="3000" b="true">
                <a:solidFill>
                  <a:srgbClr val="000000"/>
                </a:solidFill>
                <a:latin typeface="DM Sans Bold"/>
                <a:ea typeface="DM Sans Bold"/>
                <a:cs typeface="DM Sans Bold"/>
                <a:sym typeface="DM Sans Bold"/>
              </a:rPr>
              <a:t>Presented by:</a:t>
            </a:r>
          </a:p>
          <a:p>
            <a:pPr algn="ctr">
              <a:lnSpc>
                <a:spcPts val="4200"/>
              </a:lnSpc>
              <a:spcBef>
                <a:spcPct val="0"/>
              </a:spcBef>
            </a:pPr>
            <a:r>
              <a:rPr lang="en-US" b="true" sz="3000">
                <a:solidFill>
                  <a:srgbClr val="000000"/>
                </a:solidFill>
                <a:latin typeface="DM Sans Bold"/>
                <a:ea typeface="DM Sans Bold"/>
                <a:cs typeface="DM Sans Bold"/>
                <a:sym typeface="DM Sans Bold"/>
              </a:rPr>
              <a:t>Sridipta Roy (roy.sr@northeastern.edu)</a:t>
            </a:r>
          </a:p>
        </p:txBody>
      </p:sp>
      <p:sp>
        <p:nvSpPr>
          <p:cNvPr name="TextBox 17" id="17"/>
          <p:cNvSpPr txBox="true"/>
          <p:nvPr/>
        </p:nvSpPr>
        <p:spPr>
          <a:xfrm rot="0">
            <a:off x="2228298" y="6304434"/>
            <a:ext cx="2603183"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DM Sans Bold"/>
                <a:ea typeface="DM Sans Bold"/>
                <a:cs typeface="DM Sans Bold"/>
                <a:sym typeface="DM Sans Bold"/>
              </a:rPr>
              <a:t>GitHub Repo:  </a:t>
            </a:r>
          </a:p>
        </p:txBody>
      </p:sp>
      <p:sp>
        <p:nvSpPr>
          <p:cNvPr name="TextBox 18" id="18"/>
          <p:cNvSpPr txBox="true"/>
          <p:nvPr/>
        </p:nvSpPr>
        <p:spPr>
          <a:xfrm rot="0">
            <a:off x="4874301" y="6304434"/>
            <a:ext cx="11345823" cy="523875"/>
          </a:xfrm>
          <a:prstGeom prst="rect">
            <a:avLst/>
          </a:prstGeom>
        </p:spPr>
        <p:txBody>
          <a:bodyPr anchor="t" rtlCol="false" tIns="0" lIns="0" bIns="0" rIns="0">
            <a:spAutoFit/>
          </a:bodyPr>
          <a:lstStyle/>
          <a:p>
            <a:pPr algn="ctr">
              <a:lnSpc>
                <a:spcPts val="4200"/>
              </a:lnSpc>
              <a:spcBef>
                <a:spcPct val="0"/>
              </a:spcBef>
            </a:pPr>
            <a:r>
              <a:rPr lang="en-US" b="true" sz="3000" u="sng">
                <a:solidFill>
                  <a:srgbClr val="1800AD"/>
                </a:solidFill>
                <a:latin typeface="DM Sans Bold"/>
                <a:ea typeface="DM Sans Bold"/>
                <a:cs typeface="DM Sans Bold"/>
                <a:sym typeface="DM Sans Bold"/>
                <a:hlinkClick r:id="rId28" tooltip="https://github.com/Sridipta-Roy/Protein-Function-Prediction"/>
              </a:rPr>
              <a:t>https://github.com/Sridipta-Roy/Protein-Function-Prediction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DAG63OaskTw</dc:identifier>
  <dcterms:modified xsi:type="dcterms:W3CDTF">2011-08-01T06:04:30Z</dcterms:modified>
  <cp:revision>1</cp:revision>
  <dc:title>Protein Function Prediction via Multimodal LLM</dc:title>
</cp:coreProperties>
</file>